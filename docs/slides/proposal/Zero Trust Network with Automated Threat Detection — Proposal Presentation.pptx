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Space Grotesk"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Good morning. My project is a Zero Trust network with automated threat detection and response, using the Isolation Forest algorithm. In the next ten minutes I will cover the concept, the literature, the design, how it is built, and how I prove that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10 seconds. The problem: most enterprise networks still trust a device once it is inside. If an attacker gets in, or a staff account is misused, little stops them moving between systems, and signature-based tools only catch attacks they already know. My concept combines Zero Trust with machine learning. Walk the picture left to right: a PC connects and the port stays closed. The user logs in with 802.1X and RADIUS checks the password. The user's role decides the VLAN, and ACLs allow only what that role needs. Once inside, the PC is still watched: every ten seconds its traffic is scored by an Isolation Forest. If it looks like an attack, the system responds by itself, using the same Zero Trust controls: block, quarantine, disable the account, or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seconds. The review covers the five areas you asked for. Networking: VLANs and ACLs are the basic tools for segmentation. Systems: 802.1X with a RADIUS server gives authentication, authorization and accounting, and with dynamic VLAN assignment the VLAN follows the user, not the port. Cloud: cloud services and remote work removed the clear inside and outside, which is why organisations are moving to Zero Trust; container technology also lets me run real switch software on one machine. Applications: Isolation Forest is an unsupervised algorithm, so it does not need labelled attack data. Cybersecurity: signature tools miss new behaviour, and automating the first response shortens the time an attacker has. The gap: these are usually studied separately, and few working systems connect detection directly to the network controls. That is what this project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technical design. Every user sits in a VLAN chosen by their role: admin VLAN 10, staff VLAN 20, guest VLAN 30, and VLAN 99 for a quarantined host. All users connect through the access switch, which runs 802.1X on every port and asks FreeRADIUS who the user is. The core switch routes between the VLANs, and the ZT_POLICY access list enforces least privilege. The edge firewall is default deny and protects the inside from the DMZ web server and the internet. The access switch also copies all user traffic to the SIEM host, which is where detection runs. So RADIUS answers who you are, and the SIEM answers what you are doing. The policy line at the bottom is the analysis of who may reach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first signalling diagram is the 802.1X login, which is the identity half of Zero Trust. The PC starts with EAPOL-Start. The switch asks for an identity, and the PC answers with the username, here alice. The switch forwards it to FreeRADIUS in an Access-Request. Inside a PEAP tunnel the password is checked. If it is correct, RADIUS sends Access-Accept with a VLAN attribute, the Tunnel-Private-Group-Id, set to 20 for staff. The switch then opens the port in VLAN 20. If the password is wrong, RADIUS sends Access-Reject and the port stays closed, so no traffic gets through before a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 second signalling diagram shows detection and response, using a port scan from the guest PC as the example. One: the guest PC probes ten or more ports. Two: the access switch mirrors that traffic to the SIEM host. Three: at the end of the ten-second window the Python pipeline builds eight features, the Isolation Forest scores the window as an anomaly, and the classifier names it a port scan. Four: the response engine writes a rule into FreeRADIUS that puts this user in VLAN 99. Five: it logs in to the access switch over SSH with Netmiko and bounces the port. Six and seven: the PC logs in again and RADIUS now places it in quarantine VLAN 99. Eight: the event goes to Zabbix, which raises an alert and emails the administrator. The other attacks follow the same pattern with a different action: a DoS source is blocked by a deny line in the core ACL, and an insider has the account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These are the actual systems. Everything runs in Containerlab on one Kali Linux laptop, and the whole lab is rebuilt with one command. The two switches run real Arista EOS software, so they behave like production switches. FreeRADIUS does the 802.1X logins with PEAP and returns the VLAN. The edge is a Linux router with an iptables default-deny firewall and a DMZ web server. Detection is Python with pandas and scikit-learn. The response engine uses Netmiko to log in to the switches over SSH. Zabbix gives the dashboard and emails alerts. I chose real software over Packet Tracer because Packet Tracer gives no real packets for the detector and Python cannot log in to it to apply a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system architecture in two layers. The top layer is the Zero Trust network in Containerlab: the switches, FreeRADIUS, the edge firewall, the DMZ and the user PCs. The access switch mirrors all user traffic down to the SIEM host. There, a Python pipeline runs left to right: the collector reads packets from the mirror port, the feature builder turns each PC's traffic into eight numbers every ten seconds, the Isolation Forest scores the window, with one extra rule for repeated failed logins, the classifier names the attack type, and the response engine acts. The actions go back up to the network: SSH commands to the switches, and rules in FreeRADIUS. Every score and action is also sent to Zabbix for the dashboard and email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15 seconds. I prove the system works with four kinds of test. First, policy checks: after every rebuild a script confirms that each role can reach only what it should, for example a guest can reach the DMZ web server but not a staff PC. Second, 802.1X: the right password lands the user in the right VLAN, and a wrong password leaves the port closed. Third, the detector: 594 normal windows and 100 attack windows, five attack types at five intensities, scored with five-fold leave-one-run-out cross-validation so every run is tested by a model that never saw it. Fourth, end to end: each attack is launched live while the other PCs work normally, and I time how long it takes from the end of the window to the action. The results on the right: 99 percent accuracy, every attack window detected, 1.1 percent false alarms, which only raise an alert and never block a user, and under two seconds from detection to action. The final rehearsal on 16 GB answered all five attacks in 1.1 to 1.9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These are the limitations. All traffic is generated by scripts, which are more regular than real people, so the false-alarm rate on a real network would likely be higher. Night-time is simulated with a flag. The lab is small: one access switch, three users, and one laptop. And only the five attack types in scope were tested. To reduce the risk of a false alarm cutting someone off, unclear cases only raise an alert, and every action can be reversed. Future work is to compare Isolation Forest with other unsupervised models and to connect the response engine to a SOAR or ticketing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To sum up: the network verifies every login, watches what every device does, and responds by itself within two seconds.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20" y="1102285"/>
            <a:ext cx="10566533" cy="446982"/>
          </a:xfrm>
          <a:prstGeom prst="rect">
            <a:avLst/>
          </a:prstGeom>
          <a:noFill/>
          <a:ln/>
        </p:spPr>
        <p:txBody>
          <a:bodyPr wrap="square" lIns="0" tIns="0" rIns="0" bIns="0" rtlCol="0" anchor="t"/>
          <a:lstStyle>
            <a:lvl1pPr algn="l" indent="0" marL="0">
              <a:lnSpc>
                <a:spcPct val="115000"/>
              </a:lnSpc>
              <a:buNone/>
              <a:defRPr lang="en-US" sz="3200" dirty="0">
                <a:solidFill>
                  <a:srgbClr val="0F1E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0" y="1854067"/>
            <a:ext cx="10566480" cy="4191133"/>
          </a:xfrm>
          <a:prstGeom prst="rect">
            <a:avLst/>
          </a:prstGeom>
          <a:noFill/>
          <a:ln/>
        </p:spPr>
        <p:txBody>
          <a:bodyPr wrap="square" lIns="0" tIns="0" rIns="0" bIns="0" rtlCol="0" anchor="t"/>
          <a:lstStyle>
            <a:lvl1pPr algn="l" indent="0" marL="0">
              <a:lnSpc>
                <a:spcPct val="140000"/>
              </a:lnSpc>
              <a:buNone/>
              <a:defRPr lang="en-US" sz="1600" dirty="0">
                <a:solidFill>
                  <a:srgbClr val="0F1E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20" y="1102285"/>
            <a:ext cx="10566533" cy="446982"/>
          </a:xfrm>
          <a:prstGeom prst="rect">
            <a:avLst/>
          </a:prstGeom>
          <a:noFill/>
          <a:ln/>
        </p:spPr>
        <p:txBody>
          <a:bodyPr wrap="square" lIns="0" tIns="0" rIns="0" bIns="0" rtlCol="0" anchor="t"/>
          <a:lstStyle>
            <a:lvl1pPr algn="l" indent="0" marL="0">
              <a:lnSpc>
                <a:spcPct val="115000"/>
              </a:lnSpc>
              <a:buNone/>
              <a:defRPr lang="en-US" sz="3200" dirty="0">
                <a:solidFill>
                  <a:srgbClr val="0F1E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20" y="1854067"/>
            <a:ext cx="10566480" cy="4191133"/>
          </a:xfrm>
          <a:prstGeom prst="rect">
            <a:avLst/>
          </a:prstGeom>
          <a:noFill/>
          <a:ln/>
        </p:spPr>
        <p:txBody>
          <a:bodyPr wrap="square" lIns="0" tIns="0" rIns="0" bIns="0" rtlCol="0" anchor="t"/>
          <a:lstStyle>
            <a:lvl1pPr algn="l" indent="0" marL="0">
              <a:lnSpc>
                <a:spcPct val="140000"/>
              </a:lnSpc>
              <a:buNone/>
              <a:defRPr lang="en-US" sz="1600" dirty="0">
                <a:solidFill>
                  <a:srgbClr val="0F1E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2E"/>
        </a:solidFill>
      </p:bgPr>
    </p:bg>
    <p:spTree>
      <p:nvGrpSpPr>
        <p:cNvPr id="1" name=""/>
        <p:cNvGrpSpPr/>
        <p:nvPr/>
      </p:nvGrpSpPr>
      <p:grpSpPr>
        <a:xfrm>
          <a:off x="0" y="0"/>
          <a:ext cx="0" cy="0"/>
          <a:chOff x="0" y="0"/>
          <a:chExt cx="0" cy="0"/>
        </a:xfrm>
      </p:grpSpPr>
      <p:sp>
        <p:nvSpPr>
          <p:cNvPr id="2" name="Text 0"/>
          <p:cNvSpPr/>
          <p:nvPr/>
        </p:nvSpPr>
        <p:spPr>
          <a:xfrm>
            <a:off x="812720" y="812720"/>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C4BE"/>
                </a:solidFill>
                <a:latin typeface="IBM Plex Sans" pitchFamily="34" charset="0"/>
                <a:ea typeface="IBM Plex Sans" pitchFamily="34" charset="-122"/>
                <a:cs typeface="IBM Plex Sans" pitchFamily="34" charset="-120"/>
              </a:rPr>
              <a:t>BSC COMPUTER NETWORKS AND CYBER SECURITY · PROJECT PROPOSAL</a:t>
            </a:r>
            <a:endParaRPr lang="en-US" sz="1200" dirty="0"/>
          </a:p>
        </p:txBody>
      </p:sp>
      <p:sp>
        <p:nvSpPr>
          <p:cNvPr id="3" name="Text 1"/>
          <p:cNvSpPr/>
          <p:nvPr>
            <p:ph type="title"/>
          </p:nvPr>
        </p:nvSpPr>
        <p:spPr>
          <a:xfrm>
            <a:off x="812720" y="1229269"/>
            <a:ext cx="10883529" cy="125485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4F6F3"/>
                </a:solidFill>
                <a:latin typeface="Space Grotesk" pitchFamily="34" charset="0"/>
                <a:ea typeface="Space Grotesk" pitchFamily="34" charset="-122"/>
                <a:cs typeface="Space Grotesk" pitchFamily="34" charset="-120"/>
              </a:rPr>
              <a:t>A Zero Trust Network with Automated Threat Detection and Response</a:t>
            </a:r>
            <a:endParaRPr lang="en-US" sz="4400" dirty="0"/>
          </a:p>
        </p:txBody>
      </p:sp>
      <p:sp>
        <p:nvSpPr>
          <p:cNvPr id="4" name="Text 2"/>
          <p:cNvSpPr/>
          <p:nvPr/>
        </p:nvSpPr>
        <p:spPr>
          <a:xfrm>
            <a:off x="812720" y="2661877"/>
            <a:ext cx="10883529" cy="345398"/>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D3D8"/>
                </a:solidFill>
                <a:latin typeface="IBM Plex Sans" pitchFamily="34" charset="0"/>
                <a:ea typeface="IBM Plex Sans" pitchFamily="34" charset="-122"/>
                <a:cs typeface="IBM Plex Sans" pitchFamily="34" charset="-120"/>
              </a:rPr>
              <a:t>using the Isolation Forest algorithm</a:t>
            </a:r>
            <a:endParaRPr lang="en-US" sz="1800" dirty="0"/>
          </a:p>
        </p:txBody>
      </p:sp>
      <p:sp>
        <p:nvSpPr>
          <p:cNvPr id="5" name="Text 3"/>
          <p:cNvSpPr/>
          <p:nvPr/>
        </p:nvSpPr>
        <p:spPr>
          <a:xfrm>
            <a:off x="812720" y="5461244"/>
            <a:ext cx="3535100" cy="309802"/>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6F3"/>
                </a:solidFill>
                <a:latin typeface="IBM Plex Sans" pitchFamily="34" charset="0"/>
                <a:ea typeface="IBM Plex Sans" pitchFamily="34" charset="-122"/>
                <a:cs typeface="IBM Plex Sans" pitchFamily="34" charset="-120"/>
              </a:rPr>
              <a:t>Esborn Kihiu · Adm No. 168863</a:t>
            </a:r>
            <a:endParaRPr lang="en-US" sz="1600" dirty="0"/>
          </a:p>
        </p:txBody>
      </p:sp>
      <p:sp>
        <p:nvSpPr>
          <p:cNvPr id="6" name="Text 4"/>
          <p:cNvSpPr/>
          <p:nvPr/>
        </p:nvSpPr>
        <p:spPr>
          <a:xfrm>
            <a:off x="812720" y="5796368"/>
            <a:ext cx="3034294"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D8"/>
                </a:solidFill>
                <a:latin typeface="IBM Plex Sans" pitchFamily="34" charset="0"/>
                <a:ea typeface="IBM Plex Sans" pitchFamily="34" charset="-122"/>
                <a:cs typeface="IBM Plex Sans" pitchFamily="34" charset="-120"/>
              </a:rPr>
              <a:t>Supervisor: Mr. James Gikera</a:t>
            </a:r>
            <a:endParaRPr lang="en-US" sz="1400" dirty="0"/>
          </a:p>
        </p:txBody>
      </p:sp>
      <p:sp>
        <p:nvSpPr>
          <p:cNvPr id="7" name="Text 5"/>
          <p:cNvSpPr/>
          <p:nvPr/>
        </p:nvSpPr>
        <p:spPr>
          <a:xfrm>
            <a:off x="7324167" y="5618481"/>
            <a:ext cx="4055085" cy="452184"/>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FD3D8"/>
                </a:solidFill>
                <a:latin typeface="IBM Plex Sans" pitchFamily="34" charset="0"/>
                <a:ea typeface="IBM Plex Sans" pitchFamily="34" charset="-122"/>
                <a:cs typeface="IBM Plex Sans" pitchFamily="34" charset="-120"/>
              </a:rPr>
              <a:t>Strathmore University</a:t>
            </a:r>
            <a:endParaRPr lang="en-US" sz="1200" dirty="0"/>
          </a:p>
          <a:p>
            <a:pPr algn="r" indent="0" marL="0">
              <a:lnSpc>
                <a:spcPts val="1680"/>
              </a:lnSpc>
              <a:buNone/>
            </a:pPr>
            <a:r>
              <a:rPr lang="en-US" sz="1200" dirty="0">
                <a:solidFill>
                  <a:srgbClr val="BFD3D8"/>
                </a:solidFill>
                <a:latin typeface="IBM Plex Sans" pitchFamily="34" charset="0"/>
                <a:ea typeface="IBM Plex Sans" pitchFamily="34" charset="-122"/>
                <a:cs typeface="IBM Plex Sans" pitchFamily="34" charset="-120"/>
              </a:rPr>
              <a:t>School of Computing and Engineering Sciences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20"/>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INTRODUCTION</a:t>
            </a:r>
            <a:endParaRPr lang="en-US" sz="1200" dirty="0"/>
          </a:p>
        </p:txBody>
      </p:sp>
      <p:sp>
        <p:nvSpPr>
          <p:cNvPr id="3" name="Text 1"/>
          <p:cNvSpPr/>
          <p:nvPr>
            <p:ph type="title"/>
          </p:nvPr>
        </p:nvSpPr>
        <p:spPr>
          <a:xfrm>
            <a:off x="812720" y="1102285"/>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Zero Trust that watches and acts</a:t>
            </a:r>
            <a:endParaRPr lang="en-US" sz="3200" dirty="0"/>
          </a:p>
        </p:txBody>
      </p:sp>
      <p:sp>
        <p:nvSpPr>
          <p:cNvPr id="4" name="Text 2"/>
          <p:cNvSpPr/>
          <p:nvPr/>
        </p:nvSpPr>
        <p:spPr>
          <a:xfrm>
            <a:off x="812720" y="1803236"/>
            <a:ext cx="10883529" cy="59420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868"/>
                </a:solidFill>
                <a:latin typeface="IBM Plex Sans" pitchFamily="34" charset="0"/>
                <a:ea typeface="IBM Plex Sans" pitchFamily="34" charset="-122"/>
                <a:cs typeface="IBM Plex Sans" pitchFamily="34" charset="-120"/>
              </a:rPr>
              <a:t>Most networks trust a device once it is inside. An attacker or a misused account can then move freely, and signature tools miss behaviour they have not seen before.</a:t>
            </a:r>
            <a:endParaRPr lang="en-US" sz="1600" dirty="0"/>
          </a:p>
        </p:txBody>
      </p:sp>
      <p:sp>
        <p:nvSpPr>
          <p:cNvPr id="5" name="Shape 3"/>
          <p:cNvSpPr/>
          <p:nvPr/>
        </p:nvSpPr>
        <p:spPr>
          <a:xfrm>
            <a:off x="815895" y="2878082"/>
            <a:ext cx="1660029" cy="1788010"/>
          </a:xfrm>
          <a:prstGeom prst="roundRect">
            <a:avLst>
              <a:gd name="adj" fmla="val 5929"/>
            </a:avLst>
          </a:prstGeom>
          <a:solidFill>
            <a:srgbClr val="FCFDFB"/>
          </a:solidFill>
          <a:ln w="6350">
            <a:solidFill>
              <a:srgbClr val="D5DDD9"/>
            </a:solidFill>
            <a:prstDash val="solid"/>
          </a:ln>
        </p:spPr>
      </p:sp>
      <p:pic>
        <p:nvPicPr>
          <p:cNvPr id="6" name="Image 0" descr="Users">    </p:cNvPr>
          <p:cNvPicPr>
            <a:picLocks noChangeAspect="1"/>
          </p:cNvPicPr>
          <p:nvPr/>
        </p:nvPicPr>
        <p:blipFill>
          <a:blip r:embed="rId1"/>
          <a:srcRect l="0" r="0" t="0" b="0"/>
          <a:stretch/>
        </p:blipFill>
        <p:spPr>
          <a:xfrm>
            <a:off x="970862" y="3033048"/>
            <a:ext cx="304781" cy="304781"/>
          </a:xfrm>
          <a:prstGeom prst="rect">
            <a:avLst/>
          </a:prstGeom>
        </p:spPr>
      </p:pic>
      <p:sp>
        <p:nvSpPr>
          <p:cNvPr id="7" name="Text 4"/>
          <p:cNvSpPr/>
          <p:nvPr/>
        </p:nvSpPr>
        <p:spPr>
          <a:xfrm>
            <a:off x="970862" y="3414002"/>
            <a:ext cx="140089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Connect</a:t>
            </a:r>
            <a:endParaRPr lang="en-US" sz="1800" dirty="0"/>
          </a:p>
        </p:txBody>
      </p:sp>
      <p:sp>
        <p:nvSpPr>
          <p:cNvPr id="8" name="Text 5"/>
          <p:cNvSpPr/>
          <p:nvPr/>
        </p:nvSpPr>
        <p:spPr>
          <a:xfrm>
            <a:off x="970862" y="3764433"/>
            <a:ext cx="1400895"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A user plugs in a PC. The port stays closed.</a:t>
            </a:r>
            <a:endParaRPr lang="en-US" sz="1400" dirty="0"/>
          </a:p>
        </p:txBody>
      </p:sp>
      <p:pic>
        <p:nvPicPr>
          <p:cNvPr id="9" name="Image 1" descr="connector">    </p:cNvPr>
          <p:cNvPicPr>
            <a:picLocks noChangeAspect="1"/>
          </p:cNvPicPr>
          <p:nvPr/>
        </p:nvPicPr>
        <p:blipFill>
          <a:blip r:embed="rId2"/>
          <a:srcRect l="-5" r="-5" t="0" b="0"/>
          <a:stretch/>
        </p:blipFill>
        <p:spPr>
          <a:xfrm>
            <a:off x="2580632" y="3708549"/>
            <a:ext cx="355593" cy="126985"/>
          </a:xfrm>
          <a:prstGeom prst="rect">
            <a:avLst/>
          </a:prstGeom>
        </p:spPr>
      </p:pic>
      <p:sp>
        <p:nvSpPr>
          <p:cNvPr id="10" name="Shape 6"/>
          <p:cNvSpPr/>
          <p:nvPr/>
        </p:nvSpPr>
        <p:spPr>
          <a:xfrm>
            <a:off x="3040933" y="2878082"/>
            <a:ext cx="1660029" cy="1788010"/>
          </a:xfrm>
          <a:prstGeom prst="roundRect">
            <a:avLst>
              <a:gd name="adj" fmla="val 5929"/>
            </a:avLst>
          </a:prstGeom>
          <a:solidFill>
            <a:srgbClr val="FCFDFB"/>
          </a:solidFill>
          <a:ln w="6350">
            <a:solidFill>
              <a:srgbClr val="D5DDD9"/>
            </a:solidFill>
            <a:prstDash val="solid"/>
          </a:ln>
        </p:spPr>
      </p:sp>
      <p:pic>
        <p:nvPicPr>
          <p:cNvPr id="11" name="Image 2" descr="Key">    </p:cNvPr>
          <p:cNvPicPr>
            <a:picLocks noChangeAspect="1"/>
          </p:cNvPicPr>
          <p:nvPr/>
        </p:nvPicPr>
        <p:blipFill>
          <a:blip r:embed="rId3"/>
          <a:srcRect l="0" r="0" t="0" b="0"/>
          <a:stretch/>
        </p:blipFill>
        <p:spPr>
          <a:xfrm>
            <a:off x="3195900" y="3033048"/>
            <a:ext cx="304781" cy="304781"/>
          </a:xfrm>
          <a:prstGeom prst="rect">
            <a:avLst/>
          </a:prstGeom>
        </p:spPr>
      </p:pic>
      <p:sp>
        <p:nvSpPr>
          <p:cNvPr id="12" name="Text 7"/>
          <p:cNvSpPr/>
          <p:nvPr/>
        </p:nvSpPr>
        <p:spPr>
          <a:xfrm>
            <a:off x="3195900" y="3414002"/>
            <a:ext cx="140089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Verify</a:t>
            </a:r>
            <a:endParaRPr lang="en-US" sz="1800" dirty="0"/>
          </a:p>
        </p:txBody>
      </p:sp>
      <p:sp>
        <p:nvSpPr>
          <p:cNvPr id="13" name="Text 8"/>
          <p:cNvSpPr/>
          <p:nvPr/>
        </p:nvSpPr>
        <p:spPr>
          <a:xfrm>
            <a:off x="3195900" y="3764433"/>
            <a:ext cx="1400895"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An 802.1X login is checked by RADIUS.</a:t>
            </a:r>
            <a:endParaRPr lang="en-US" sz="1400" dirty="0"/>
          </a:p>
        </p:txBody>
      </p:sp>
      <p:pic>
        <p:nvPicPr>
          <p:cNvPr id="14" name="Image 3" descr="connector">    </p:cNvPr>
          <p:cNvPicPr>
            <a:picLocks noChangeAspect="1"/>
          </p:cNvPicPr>
          <p:nvPr/>
        </p:nvPicPr>
        <p:blipFill>
          <a:blip r:embed="rId4"/>
          <a:srcRect l="-5" r="-5" t="0" b="0"/>
          <a:stretch/>
        </p:blipFill>
        <p:spPr>
          <a:xfrm>
            <a:off x="4805670" y="3708549"/>
            <a:ext cx="355593" cy="126985"/>
          </a:xfrm>
          <a:prstGeom prst="rect">
            <a:avLst/>
          </a:prstGeom>
        </p:spPr>
      </p:pic>
      <p:sp>
        <p:nvSpPr>
          <p:cNvPr id="15" name="Shape 9"/>
          <p:cNvSpPr/>
          <p:nvPr/>
        </p:nvSpPr>
        <p:spPr>
          <a:xfrm>
            <a:off x="5265972" y="2753633"/>
            <a:ext cx="1660029" cy="2036907"/>
          </a:xfrm>
          <a:prstGeom prst="roundRect">
            <a:avLst>
              <a:gd name="adj" fmla="val 5929"/>
            </a:avLst>
          </a:prstGeom>
          <a:solidFill>
            <a:srgbClr val="FCFDFB"/>
          </a:solidFill>
          <a:ln w="6350">
            <a:solidFill>
              <a:srgbClr val="D5DDD9"/>
            </a:solidFill>
            <a:prstDash val="solid"/>
          </a:ln>
        </p:spPr>
      </p:sp>
      <p:pic>
        <p:nvPicPr>
          <p:cNvPr id="16" name="Image 4" descr="Lock">    </p:cNvPr>
          <p:cNvPicPr>
            <a:picLocks noChangeAspect="1"/>
          </p:cNvPicPr>
          <p:nvPr/>
        </p:nvPicPr>
        <p:blipFill>
          <a:blip r:embed="rId5"/>
          <a:srcRect l="0" r="0" t="0" b="0"/>
          <a:stretch/>
        </p:blipFill>
        <p:spPr>
          <a:xfrm>
            <a:off x="5420939" y="2908600"/>
            <a:ext cx="304781" cy="304781"/>
          </a:xfrm>
          <a:prstGeom prst="rect">
            <a:avLst/>
          </a:prstGeom>
        </p:spPr>
      </p:pic>
      <p:sp>
        <p:nvSpPr>
          <p:cNvPr id="17" name="Text 10"/>
          <p:cNvSpPr/>
          <p:nvPr/>
        </p:nvSpPr>
        <p:spPr>
          <a:xfrm>
            <a:off x="5420939" y="3289554"/>
            <a:ext cx="140089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Segment</a:t>
            </a:r>
            <a:endParaRPr lang="en-US" sz="1800" dirty="0"/>
          </a:p>
        </p:txBody>
      </p:sp>
      <p:sp>
        <p:nvSpPr>
          <p:cNvPr id="18" name="Text 11"/>
          <p:cNvSpPr/>
          <p:nvPr/>
        </p:nvSpPr>
        <p:spPr>
          <a:xfrm>
            <a:off x="5420939" y="3639984"/>
            <a:ext cx="1400895" cy="102098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The role picks the VLAN; ACLs allow only what it needs.</a:t>
            </a:r>
            <a:endParaRPr lang="en-US" sz="1400" dirty="0"/>
          </a:p>
        </p:txBody>
      </p:sp>
      <p:pic>
        <p:nvPicPr>
          <p:cNvPr id="19" name="Image 5" descr="connector">    </p:cNvPr>
          <p:cNvPicPr>
            <a:picLocks noChangeAspect="1"/>
          </p:cNvPicPr>
          <p:nvPr/>
        </p:nvPicPr>
        <p:blipFill>
          <a:blip r:embed="rId6"/>
          <a:srcRect l="-5" r="-5" t="0" b="0"/>
          <a:stretch/>
        </p:blipFill>
        <p:spPr>
          <a:xfrm>
            <a:off x="7030709" y="3708549"/>
            <a:ext cx="355593" cy="126985"/>
          </a:xfrm>
          <a:prstGeom prst="rect">
            <a:avLst/>
          </a:prstGeom>
        </p:spPr>
      </p:pic>
      <p:sp>
        <p:nvSpPr>
          <p:cNvPr id="20" name="Shape 12"/>
          <p:cNvSpPr/>
          <p:nvPr/>
        </p:nvSpPr>
        <p:spPr>
          <a:xfrm>
            <a:off x="7491010" y="2878082"/>
            <a:ext cx="1660029" cy="1788010"/>
          </a:xfrm>
          <a:prstGeom prst="roundRect">
            <a:avLst>
              <a:gd name="adj" fmla="val 5929"/>
            </a:avLst>
          </a:prstGeom>
          <a:solidFill>
            <a:srgbClr val="FCFDFB"/>
          </a:solidFill>
          <a:ln w="6350">
            <a:solidFill>
              <a:srgbClr val="D5DDD9"/>
            </a:solidFill>
            <a:prstDash val="solid"/>
          </a:ln>
        </p:spPr>
      </p:sp>
      <p:pic>
        <p:nvPicPr>
          <p:cNvPr id="21" name="Image 6" descr="Activity">    </p:cNvPr>
          <p:cNvPicPr>
            <a:picLocks noChangeAspect="1"/>
          </p:cNvPicPr>
          <p:nvPr/>
        </p:nvPicPr>
        <p:blipFill>
          <a:blip r:embed="rId7"/>
          <a:srcRect l="0" r="0" t="0" b="0"/>
          <a:stretch/>
        </p:blipFill>
        <p:spPr>
          <a:xfrm>
            <a:off x="7645977" y="3033048"/>
            <a:ext cx="304781" cy="304781"/>
          </a:xfrm>
          <a:prstGeom prst="rect">
            <a:avLst/>
          </a:prstGeom>
        </p:spPr>
      </p:pic>
      <p:sp>
        <p:nvSpPr>
          <p:cNvPr id="22" name="Text 13"/>
          <p:cNvSpPr/>
          <p:nvPr/>
        </p:nvSpPr>
        <p:spPr>
          <a:xfrm>
            <a:off x="7645977" y="3414002"/>
            <a:ext cx="140089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Detect</a:t>
            </a:r>
            <a:endParaRPr lang="en-US" sz="1800" dirty="0"/>
          </a:p>
        </p:txBody>
      </p:sp>
      <p:sp>
        <p:nvSpPr>
          <p:cNvPr id="23" name="Text 14"/>
          <p:cNvSpPr/>
          <p:nvPr/>
        </p:nvSpPr>
        <p:spPr>
          <a:xfrm>
            <a:off x="7645977" y="3764433"/>
            <a:ext cx="1400895" cy="77209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Isolation Forest scores every PC every 10 s.</a:t>
            </a:r>
            <a:endParaRPr lang="en-US" sz="1400" dirty="0"/>
          </a:p>
        </p:txBody>
      </p:sp>
      <p:pic>
        <p:nvPicPr>
          <p:cNvPr id="24" name="Image 7" descr="connector">    </p:cNvPr>
          <p:cNvPicPr>
            <a:picLocks noChangeAspect="1"/>
          </p:cNvPicPr>
          <p:nvPr/>
        </p:nvPicPr>
        <p:blipFill>
          <a:blip r:embed="rId8"/>
          <a:srcRect l="-5" r="-5" t="0" b="0"/>
          <a:stretch/>
        </p:blipFill>
        <p:spPr>
          <a:xfrm>
            <a:off x="9255747" y="3708549"/>
            <a:ext cx="355593" cy="126985"/>
          </a:xfrm>
          <a:prstGeom prst="rect">
            <a:avLst/>
          </a:prstGeom>
        </p:spPr>
      </p:pic>
      <p:sp>
        <p:nvSpPr>
          <p:cNvPr id="25" name="Shape 15"/>
          <p:cNvSpPr/>
          <p:nvPr/>
        </p:nvSpPr>
        <p:spPr>
          <a:xfrm>
            <a:off x="9716049" y="2629184"/>
            <a:ext cx="1660029" cy="2285804"/>
          </a:xfrm>
          <a:prstGeom prst="roundRect">
            <a:avLst>
              <a:gd name="adj" fmla="val 5929"/>
            </a:avLst>
          </a:prstGeom>
          <a:solidFill>
            <a:srgbClr val="FBEFE6"/>
          </a:solidFill>
          <a:ln w="6350">
            <a:solidFill>
              <a:srgbClr val="E8C9B2"/>
            </a:solidFill>
            <a:prstDash val="solid"/>
          </a:ln>
        </p:spPr>
      </p:sp>
      <p:pic>
        <p:nvPicPr>
          <p:cNvPr id="26" name="Image 8" descr="Lightning">    </p:cNvPr>
          <p:cNvPicPr>
            <a:picLocks noChangeAspect="1"/>
          </p:cNvPicPr>
          <p:nvPr/>
        </p:nvPicPr>
        <p:blipFill>
          <a:blip r:embed="rId9"/>
          <a:srcRect l="0" r="0" t="0" b="0"/>
          <a:stretch/>
        </p:blipFill>
        <p:spPr>
          <a:xfrm>
            <a:off x="9871016" y="2784152"/>
            <a:ext cx="304781" cy="304781"/>
          </a:xfrm>
          <a:prstGeom prst="rect">
            <a:avLst/>
          </a:prstGeom>
        </p:spPr>
      </p:pic>
      <p:sp>
        <p:nvSpPr>
          <p:cNvPr id="27" name="Text 16"/>
          <p:cNvSpPr/>
          <p:nvPr/>
        </p:nvSpPr>
        <p:spPr>
          <a:xfrm>
            <a:off x="9871016" y="3165105"/>
            <a:ext cx="140089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Respond</a:t>
            </a:r>
            <a:endParaRPr lang="en-US" sz="1800" dirty="0"/>
          </a:p>
        </p:txBody>
      </p:sp>
      <p:sp>
        <p:nvSpPr>
          <p:cNvPr id="28" name="Text 17"/>
          <p:cNvSpPr/>
          <p:nvPr/>
        </p:nvSpPr>
        <p:spPr>
          <a:xfrm>
            <a:off x="9871016" y="3515536"/>
            <a:ext cx="1400895" cy="12698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Block, quarantine, disable or alert. No person needed.</a:t>
            </a:r>
            <a:endParaRPr lang="en-US" sz="1400" dirty="0"/>
          </a:p>
        </p:txBody>
      </p:sp>
      <p:sp>
        <p:nvSpPr>
          <p:cNvPr id="29" name="Text 18"/>
          <p:cNvSpPr/>
          <p:nvPr/>
        </p:nvSpPr>
        <p:spPr>
          <a:xfrm>
            <a:off x="812720" y="5172132"/>
            <a:ext cx="10566533" cy="502866"/>
          </a:xfrm>
          <a:prstGeom prst="roundRect">
            <a:avLst>
              <a:gd name="adj" fmla="val 15153"/>
            </a:avLst>
          </a:prstGeom>
          <a:solidFill>
            <a:srgbClr val="E2EFED"/>
          </a:solidFill>
          <a:ln/>
        </p:spPr>
        <p:txBody>
          <a:bodyPr wrap="square" lIns="155482" tIns="104682" rIns="0" bIns="79282" rtlCol="0" anchor="t">
            <a:normAutofit/>
          </a:bodyPr>
          <a:lstStyle/>
          <a:p>
            <a:pPr algn="l" indent="0" marL="0">
              <a:lnSpc>
                <a:spcPts val="1960"/>
              </a:lnSpc>
              <a:buNone/>
            </a:pPr>
            <a:r>
              <a:rPr lang="en-US" sz="1400" b="1" dirty="0">
                <a:solidFill>
                  <a:srgbClr val="0B6E6E"/>
                </a:solidFill>
                <a:latin typeface="IBM Plex Sans" pitchFamily="34" charset="0"/>
                <a:ea typeface="IBM Plex Sans" pitchFamily="34" charset="-122"/>
                <a:cs typeface="IBM Plex Sans" pitchFamily="34" charset="-120"/>
              </a:rPr>
              <a:t>Never trust, always verify, then keep watching what each device does and act on it.</a:t>
            </a:r>
            <a:endParaRPr lang="en-US" sz="1400" dirty="0"/>
          </a:p>
        </p:txBody>
      </p:sp>
      <p:sp>
        <p:nvSpPr>
          <p:cNvPr id="30" name="Text 19"/>
          <p:cNvSpPr/>
          <p:nvPr/>
        </p:nvSpPr>
        <p:spPr>
          <a:xfrm>
            <a:off x="812720" y="6238278"/>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31" name="Text 20"/>
          <p:cNvSpPr/>
          <p:nvPr/>
        </p:nvSpPr>
        <p:spPr>
          <a:xfrm>
            <a:off x="10893668" y="6238278"/>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2 / 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LITERATURE REVIEW</a:t>
            </a:r>
            <a:endParaRPr lang="en-US" sz="1200" dirty="0"/>
          </a:p>
        </p:txBody>
      </p:sp>
      <p:sp>
        <p:nvSpPr>
          <p:cNvPr id="3" name="Text 1"/>
          <p:cNvSpPr/>
          <p:nvPr>
            <p:ph type="title"/>
          </p:nvPr>
        </p:nvSpPr>
        <p:spPr>
          <a:xfrm>
            <a:off x="812720" y="1102285"/>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Five technology areas the project draws 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13" y="1764018"/>
          <a:ext cx="10554940" cy="3055964"/>
        </p:xfrm>
        <a:graphic>
          <a:graphicData uri="http://schemas.openxmlformats.org/drawingml/2006/table">
            <a:tbl>
              <a:tblPr/>
              <a:tblGrid>
                <a:gridCol w="1688790"/>
                <a:gridCol w="5699668"/>
                <a:gridCol w="3166482"/>
              </a:tblGrid>
              <a:tr h="331501">
                <a:tc>
                  <a:txBody>
                    <a:bodyPr/>
                    <a:lstStyle/>
                    <a:p>
                      <a:pPr indent="0" marL="0">
                        <a:lnSpc>
                          <a:spcPts val="1680"/>
                        </a:lnSpc>
                        <a:buNone/>
                      </a:pPr>
                      <a:r>
                        <a:rPr lang="en-US" sz="1200" b="1" dirty="0">
                          <a:solidFill>
                            <a:srgbClr val="1B2A3A"/>
                          </a:solidFill>
                          <a:latin typeface="IBM Plex Sans" pitchFamily="34" charset="0"/>
                          <a:ea typeface="IBM Plex Sans" pitchFamily="34" charset="-122"/>
                          <a:cs typeface="IBM Plex Sans" pitchFamily="34" charset="-120"/>
                        </a:rPr>
                        <a:t>Area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c>
                  <a:txBody>
                    <a:bodyPr/>
                    <a:lstStyle/>
                    <a:p>
                      <a:pPr indent="0" marL="0">
                        <a:lnSpc>
                          <a:spcPts val="1680"/>
                        </a:lnSpc>
                        <a:buNone/>
                      </a:pPr>
                      <a:r>
                        <a:rPr lang="en-US" sz="1200" b="1" dirty="0">
                          <a:solidFill>
                            <a:srgbClr val="1B2A3A"/>
                          </a:solidFill>
                          <a:latin typeface="IBM Plex Sans" pitchFamily="34" charset="0"/>
                          <a:ea typeface="IBM Plex Sans" pitchFamily="34" charset="-122"/>
                          <a:cs typeface="IBM Plex Sans" pitchFamily="34" charset="-120"/>
                        </a:rPr>
                        <a:t>What the literature says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FBD"/>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c>
                  <a:txBody>
                    <a:bodyPr/>
                    <a:lstStyle/>
                    <a:p>
                      <a:pPr indent="0" marL="0">
                        <a:lnSpc>
                          <a:spcPts val="1680"/>
                        </a:lnSpc>
                        <a:buNone/>
                      </a:pPr>
                      <a:r>
                        <a:rPr lang="en-US" sz="1200" b="1" dirty="0">
                          <a:solidFill>
                            <a:srgbClr val="1B2A3A"/>
                          </a:solidFill>
                          <a:latin typeface="IBM Plex Sans" pitchFamily="34" charset="0"/>
                          <a:ea typeface="IBM Plex Sans" pitchFamily="34" charset="-122"/>
                          <a:cs typeface="IBM Plex Sans" pitchFamily="34" charset="-120"/>
                        </a:rPr>
                        <a:t>Used in this project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FBD"/>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r>
              <a:tr h="544893">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Networking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VLANs split one network into logical segments, and ACLs filter traffic between them (Baligodugula et al., 2024; Bredesen &amp; Mujeye,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A VLAN per role; the ZT_POLICY ACL on the core switch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544893">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Systems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802.1X with RADIUS gives AAA, and dynamic VLANs follow the user’s identity, not the port (Aramide, 2024; Islam &amp; Dhanekula, 2023)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FreeRADIUS assigns VLAN 10, 20, 30 or 99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44893">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Cloud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Cloud and remote work blurred the perimeter, pushing firms to Zero Trust (Ahmadi, 2024); containers run real network software (Chen et al.,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Containerlab runs real Arista switches in containers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544893">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Applications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Isolation Forest isolates unusual records in fewer random splits and needs no labelled attacks (Fuhnwi et al., 2023; Lakshmi et al., 2024)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Python and scikit-learn detector; Zabbix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44893">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Cybersecurity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Signature tools miss new behaviour (Rautaray, 2025); automating the first containment step shortens response (Jones, 2025)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Automatic block, quarantine and account disable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Text 2"/>
          <p:cNvSpPr/>
          <p:nvPr/>
        </p:nvSpPr>
        <p:spPr>
          <a:xfrm>
            <a:off x="812720" y="5023138"/>
            <a:ext cx="10566533" cy="751763"/>
          </a:xfrm>
          <a:prstGeom prst="roundRect">
            <a:avLst>
              <a:gd name="adj" fmla="val 10136"/>
            </a:avLst>
          </a:prstGeom>
          <a:solidFill>
            <a:srgbClr val="E2EFED"/>
          </a:solidFill>
          <a:ln/>
        </p:spPr>
        <p:txBody>
          <a:bodyPr wrap="square" lIns="155482" tIns="104682" rIns="0" bIns="79282" rtlCol="0" anchor="t">
            <a:normAutofit/>
          </a:bodyPr>
          <a:lstStyle/>
          <a:p>
            <a:pPr algn="l" indent="0" marL="0">
              <a:lnSpc>
                <a:spcPts val="1960"/>
              </a:lnSpc>
              <a:buNone/>
            </a:pPr>
            <a:r>
              <a:rPr lang="en-US" sz="1400" b="1" dirty="0">
                <a:solidFill>
                  <a:srgbClr val="0B6E6E"/>
                </a:solidFill>
                <a:latin typeface="IBM Plex Sans" pitchFamily="34" charset="0"/>
                <a:ea typeface="IBM Plex Sans" pitchFamily="34" charset="-122"/>
                <a:cs typeface="IBM Plex Sans" pitchFamily="34" charset="-120"/>
              </a:rPr>
              <a:t>Gap: Zero Trust and ML detection are studied apart, and few working systems link detection to network controls (Falowo &amp; Bou Abdo, 2026).</a:t>
            </a:r>
            <a:endParaRPr lang="en-US" sz="1400" dirty="0"/>
          </a:p>
        </p:txBody>
      </p:sp>
      <p:sp>
        <p:nvSpPr>
          <p:cNvPr id="6" name="Text 3"/>
          <p:cNvSpPr/>
          <p:nvPr/>
        </p:nvSpPr>
        <p:spPr>
          <a:xfrm>
            <a:off x="812720" y="6238278"/>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7" name="Text 4"/>
          <p:cNvSpPr/>
          <p:nvPr/>
        </p:nvSpPr>
        <p:spPr>
          <a:xfrm>
            <a:off x="10893668" y="6238278"/>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3 / 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DESIGN AND ANALYSIS</a:t>
            </a:r>
            <a:endParaRPr lang="en-US" sz="1200" dirty="0"/>
          </a:p>
        </p:txBody>
      </p:sp>
      <p:sp>
        <p:nvSpPr>
          <p:cNvPr id="3" name="Text 1"/>
          <p:cNvSpPr/>
          <p:nvPr>
            <p:ph type="title"/>
          </p:nvPr>
        </p:nvSpPr>
        <p:spPr>
          <a:xfrm>
            <a:off x="812720" y="1102285"/>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Technical design: segments by identity</a:t>
            </a:r>
            <a:endParaRPr lang="en-US" sz="3200" dirty="0"/>
          </a:p>
        </p:txBody>
      </p:sp>
      <p:pic>
        <p:nvPicPr>
          <p:cNvPr id="4" name="Image 0" descr="connector">    </p:cNvPr>
          <p:cNvPicPr>
            <a:picLocks noChangeAspect="1"/>
          </p:cNvPicPr>
          <p:nvPr/>
        </p:nvPicPr>
        <p:blipFill>
          <a:blip r:embed="rId1"/>
          <a:srcRect l="0" r="0" t="-1" b="-1"/>
          <a:stretch/>
        </p:blipFill>
        <p:spPr>
          <a:xfrm>
            <a:off x="2539964" y="2222412"/>
            <a:ext cx="507938" cy="685735"/>
          </a:xfrm>
          <a:prstGeom prst="rect">
            <a:avLst/>
          </a:prstGeom>
        </p:spPr>
      </p:pic>
      <p:pic>
        <p:nvPicPr>
          <p:cNvPr id="5" name="Image 1" descr="connector">    </p:cNvPr>
          <p:cNvPicPr>
            <a:picLocks noChangeAspect="1"/>
          </p:cNvPicPr>
          <p:nvPr/>
        </p:nvPicPr>
        <p:blipFill>
          <a:blip r:embed="rId2"/>
          <a:srcRect l="0" r="0" t="-4" b="-4"/>
          <a:stretch/>
        </p:blipFill>
        <p:spPr>
          <a:xfrm>
            <a:off x="2539964" y="3047994"/>
            <a:ext cx="507938" cy="241289"/>
          </a:xfrm>
          <a:prstGeom prst="rect">
            <a:avLst/>
          </a:prstGeom>
        </p:spPr>
      </p:pic>
      <p:pic>
        <p:nvPicPr>
          <p:cNvPr id="6" name="Image 2" descr="connector">    </p:cNvPr>
          <p:cNvPicPr>
            <a:picLocks noChangeAspect="1"/>
          </p:cNvPicPr>
          <p:nvPr/>
        </p:nvPicPr>
        <p:blipFill>
          <a:blip r:embed="rId3"/>
          <a:srcRect l="-4" r="-4" t="0" b="0"/>
          <a:stretch/>
        </p:blipFill>
        <p:spPr>
          <a:xfrm>
            <a:off x="2539964" y="3568612"/>
            <a:ext cx="507938" cy="406315"/>
          </a:xfrm>
          <a:prstGeom prst="rect">
            <a:avLst/>
          </a:prstGeom>
        </p:spPr>
      </p:pic>
      <p:pic>
        <p:nvPicPr>
          <p:cNvPr id="7" name="Image 3" descr="connector">    </p:cNvPr>
          <p:cNvPicPr>
            <a:picLocks noChangeAspect="1"/>
          </p:cNvPicPr>
          <p:nvPr/>
        </p:nvPicPr>
        <p:blipFill>
          <a:blip r:embed="rId4"/>
          <a:srcRect l="0" r="0" t="-3" b="-3"/>
          <a:stretch/>
        </p:blipFill>
        <p:spPr>
          <a:xfrm>
            <a:off x="2539964" y="3949657"/>
            <a:ext cx="507938" cy="850851"/>
          </a:xfrm>
          <a:prstGeom prst="rect">
            <a:avLst/>
          </a:prstGeom>
        </p:spPr>
      </p:pic>
      <p:pic>
        <p:nvPicPr>
          <p:cNvPr id="8" name="Image 4" descr="connector">    </p:cNvPr>
          <p:cNvPicPr>
            <a:picLocks noChangeAspect="1"/>
          </p:cNvPicPr>
          <p:nvPr/>
        </p:nvPicPr>
        <p:blipFill>
          <a:blip r:embed="rId5"/>
          <a:srcRect l="-27" r="-27" t="0" b="0"/>
          <a:stretch/>
        </p:blipFill>
        <p:spPr>
          <a:xfrm>
            <a:off x="4724335" y="3314643"/>
            <a:ext cx="507938" cy="101533"/>
          </a:xfrm>
          <a:prstGeom prst="rect">
            <a:avLst/>
          </a:prstGeom>
        </p:spPr>
      </p:pic>
      <p:pic>
        <p:nvPicPr>
          <p:cNvPr id="9" name="Image 5" descr="connector">    </p:cNvPr>
          <p:cNvPicPr>
            <a:picLocks noChangeAspect="1"/>
          </p:cNvPicPr>
          <p:nvPr/>
        </p:nvPicPr>
        <p:blipFill>
          <a:blip r:embed="rId6"/>
          <a:srcRect l="-27" r="-27" t="0" b="0"/>
          <a:stretch/>
        </p:blipFill>
        <p:spPr>
          <a:xfrm>
            <a:off x="6908797" y="3314643"/>
            <a:ext cx="507938" cy="101533"/>
          </a:xfrm>
          <a:prstGeom prst="rect">
            <a:avLst/>
          </a:prstGeom>
        </p:spPr>
      </p:pic>
      <p:pic>
        <p:nvPicPr>
          <p:cNvPr id="10" name="Image 6" descr="connector">    </p:cNvPr>
          <p:cNvPicPr>
            <a:picLocks noChangeAspect="1"/>
          </p:cNvPicPr>
          <p:nvPr/>
        </p:nvPicPr>
        <p:blipFill>
          <a:blip r:embed="rId7"/>
          <a:srcRect l="-1" r="-1" t="0" b="0"/>
          <a:stretch/>
        </p:blipFill>
        <p:spPr>
          <a:xfrm>
            <a:off x="9093167" y="2520944"/>
            <a:ext cx="507938" cy="577771"/>
          </a:xfrm>
          <a:prstGeom prst="rect">
            <a:avLst/>
          </a:prstGeom>
        </p:spPr>
      </p:pic>
      <p:pic>
        <p:nvPicPr>
          <p:cNvPr id="11" name="Image 7" descr="connector">    </p:cNvPr>
          <p:cNvPicPr>
            <a:picLocks noChangeAspect="1"/>
          </p:cNvPicPr>
          <p:nvPr/>
        </p:nvPicPr>
        <p:blipFill>
          <a:blip r:embed="rId8"/>
          <a:srcRect l="-1" r="-1" t="0" b="0"/>
          <a:stretch/>
        </p:blipFill>
        <p:spPr>
          <a:xfrm>
            <a:off x="9093167" y="3632195"/>
            <a:ext cx="507938" cy="577771"/>
          </a:xfrm>
          <a:prstGeom prst="rect">
            <a:avLst/>
          </a:prstGeom>
        </p:spPr>
      </p:pic>
      <p:pic>
        <p:nvPicPr>
          <p:cNvPr id="12" name="Image 8" descr="connector">    </p:cNvPr>
          <p:cNvPicPr>
            <a:picLocks noChangeAspect="1"/>
          </p:cNvPicPr>
          <p:nvPr/>
        </p:nvPicPr>
        <p:blipFill>
          <a:blip r:embed="rId9"/>
          <a:srcRect l="0" r="0" t="-31" b="-31"/>
          <a:stretch/>
        </p:blipFill>
        <p:spPr>
          <a:xfrm>
            <a:off x="3835352" y="4140133"/>
            <a:ext cx="101533" cy="482578"/>
          </a:xfrm>
          <a:prstGeom prst="rect">
            <a:avLst/>
          </a:prstGeom>
        </p:spPr>
      </p:pic>
      <p:pic>
        <p:nvPicPr>
          <p:cNvPr id="13" name="Image 9" descr="connector">    </p:cNvPr>
          <p:cNvPicPr>
            <a:picLocks noChangeAspect="1"/>
          </p:cNvPicPr>
          <p:nvPr/>
        </p:nvPicPr>
        <p:blipFill>
          <a:blip r:embed="rId10"/>
          <a:srcRect l="-1" r="-1" t="0" b="0"/>
          <a:stretch/>
        </p:blipFill>
        <p:spPr>
          <a:xfrm>
            <a:off x="4394193" y="4140133"/>
            <a:ext cx="1244576" cy="482578"/>
          </a:xfrm>
          <a:prstGeom prst="rect">
            <a:avLst/>
          </a:prstGeom>
        </p:spPr>
      </p:pic>
      <p:sp>
        <p:nvSpPr>
          <p:cNvPr id="14" name="Shape 2"/>
          <p:cNvSpPr/>
          <p:nvPr/>
        </p:nvSpPr>
        <p:spPr>
          <a:xfrm>
            <a:off x="815895" y="1908125"/>
            <a:ext cx="1771616" cy="730197"/>
          </a:xfrm>
          <a:prstGeom prst="roundRect">
            <a:avLst>
              <a:gd name="adj" fmla="val 10001"/>
            </a:avLst>
          </a:prstGeom>
          <a:solidFill>
            <a:srgbClr val="FCFDFB"/>
          </a:solidFill>
          <a:ln w="6350">
            <a:solidFill>
              <a:srgbClr val="D5DDD9"/>
            </a:solidFill>
            <a:prstDash val="solid"/>
          </a:ln>
        </p:spPr>
      </p:sp>
      <p:sp>
        <p:nvSpPr>
          <p:cNvPr id="15" name="Text 3"/>
          <p:cNvSpPr/>
          <p:nvPr/>
        </p:nvSpPr>
        <p:spPr>
          <a:xfrm>
            <a:off x="945501" y="2037731"/>
            <a:ext cx="1563203" cy="265330"/>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0F1E2E"/>
                </a:solidFill>
                <a:latin typeface="IBM Plex Sans" pitchFamily="34" charset="0"/>
                <a:ea typeface="IBM Plex Sans" pitchFamily="34" charset="-122"/>
                <a:cs typeface="IBM Plex Sans" pitchFamily="34" charset="-120"/>
              </a:rPr>
              <a:t>Admin</a:t>
            </a:r>
            <a:endParaRPr lang="en-US" sz="1374" dirty="0"/>
          </a:p>
        </p:txBody>
      </p:sp>
      <p:sp>
        <p:nvSpPr>
          <p:cNvPr id="16" name="Text 4"/>
          <p:cNvSpPr/>
          <p:nvPr/>
        </p:nvSpPr>
        <p:spPr>
          <a:xfrm>
            <a:off x="945501" y="2303024"/>
            <a:ext cx="1563203" cy="23109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868"/>
                </a:solidFill>
                <a:latin typeface="IBM Plex Sans" pitchFamily="34" charset="0"/>
                <a:ea typeface="IBM Plex Sans" pitchFamily="34" charset="-122"/>
                <a:cs typeface="IBM Plex Sans" pitchFamily="34" charset="-120"/>
              </a:rPr>
              <a:t>VLAN 10</a:t>
            </a:r>
            <a:endParaRPr lang="en-US" sz="1159" dirty="0"/>
          </a:p>
        </p:txBody>
      </p:sp>
      <p:sp>
        <p:nvSpPr>
          <p:cNvPr id="17" name="Shape 5"/>
          <p:cNvSpPr/>
          <p:nvPr/>
        </p:nvSpPr>
        <p:spPr>
          <a:xfrm>
            <a:off x="815895" y="2733616"/>
            <a:ext cx="1771616" cy="730197"/>
          </a:xfrm>
          <a:prstGeom prst="roundRect">
            <a:avLst>
              <a:gd name="adj" fmla="val 10001"/>
            </a:avLst>
          </a:prstGeom>
          <a:solidFill>
            <a:srgbClr val="FCFDFB"/>
          </a:solidFill>
          <a:ln w="6350">
            <a:solidFill>
              <a:srgbClr val="D5DDD9"/>
            </a:solidFill>
            <a:prstDash val="solid"/>
          </a:ln>
        </p:spPr>
      </p:sp>
      <p:sp>
        <p:nvSpPr>
          <p:cNvPr id="18" name="Text 6"/>
          <p:cNvSpPr/>
          <p:nvPr/>
        </p:nvSpPr>
        <p:spPr>
          <a:xfrm>
            <a:off x="945501" y="2863222"/>
            <a:ext cx="1563203" cy="265330"/>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0F1E2E"/>
                </a:solidFill>
                <a:latin typeface="IBM Plex Sans" pitchFamily="34" charset="0"/>
                <a:ea typeface="IBM Plex Sans" pitchFamily="34" charset="-122"/>
                <a:cs typeface="IBM Plex Sans" pitchFamily="34" charset="-120"/>
              </a:rPr>
              <a:t>Staff</a:t>
            </a:r>
            <a:endParaRPr lang="en-US" sz="1374" dirty="0"/>
          </a:p>
        </p:txBody>
      </p:sp>
      <p:sp>
        <p:nvSpPr>
          <p:cNvPr id="19" name="Text 7"/>
          <p:cNvSpPr/>
          <p:nvPr/>
        </p:nvSpPr>
        <p:spPr>
          <a:xfrm>
            <a:off x="945501" y="3128513"/>
            <a:ext cx="1563203" cy="23109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868"/>
                </a:solidFill>
                <a:latin typeface="IBM Plex Sans" pitchFamily="34" charset="0"/>
                <a:ea typeface="IBM Plex Sans" pitchFamily="34" charset="-122"/>
                <a:cs typeface="IBM Plex Sans" pitchFamily="34" charset="-120"/>
              </a:rPr>
              <a:t>VLAN 20</a:t>
            </a:r>
            <a:endParaRPr lang="en-US" sz="1159" dirty="0"/>
          </a:p>
        </p:txBody>
      </p:sp>
      <p:sp>
        <p:nvSpPr>
          <p:cNvPr id="20" name="Shape 8"/>
          <p:cNvSpPr/>
          <p:nvPr/>
        </p:nvSpPr>
        <p:spPr>
          <a:xfrm>
            <a:off x="815895" y="3559107"/>
            <a:ext cx="1771616" cy="730197"/>
          </a:xfrm>
          <a:prstGeom prst="roundRect">
            <a:avLst>
              <a:gd name="adj" fmla="val 10001"/>
            </a:avLst>
          </a:prstGeom>
          <a:solidFill>
            <a:srgbClr val="FCFDFB"/>
          </a:solidFill>
          <a:ln w="6350">
            <a:solidFill>
              <a:srgbClr val="D5DDD9"/>
            </a:solidFill>
            <a:prstDash val="solid"/>
          </a:ln>
        </p:spPr>
      </p:sp>
      <p:sp>
        <p:nvSpPr>
          <p:cNvPr id="21" name="Text 9"/>
          <p:cNvSpPr/>
          <p:nvPr/>
        </p:nvSpPr>
        <p:spPr>
          <a:xfrm>
            <a:off x="945501" y="3688713"/>
            <a:ext cx="1563203" cy="265330"/>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0F1E2E"/>
                </a:solidFill>
                <a:latin typeface="IBM Plex Sans" pitchFamily="34" charset="0"/>
                <a:ea typeface="IBM Plex Sans" pitchFamily="34" charset="-122"/>
                <a:cs typeface="IBM Plex Sans" pitchFamily="34" charset="-120"/>
              </a:rPr>
              <a:t>Guest</a:t>
            </a:r>
            <a:endParaRPr lang="en-US" sz="1374" dirty="0"/>
          </a:p>
        </p:txBody>
      </p:sp>
      <p:sp>
        <p:nvSpPr>
          <p:cNvPr id="22" name="Text 10"/>
          <p:cNvSpPr/>
          <p:nvPr/>
        </p:nvSpPr>
        <p:spPr>
          <a:xfrm>
            <a:off x="945501" y="3954004"/>
            <a:ext cx="1563203" cy="23109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4A5868"/>
                </a:solidFill>
                <a:latin typeface="IBM Plex Sans" pitchFamily="34" charset="0"/>
                <a:ea typeface="IBM Plex Sans" pitchFamily="34" charset="-122"/>
                <a:cs typeface="IBM Plex Sans" pitchFamily="34" charset="-120"/>
              </a:rPr>
              <a:t>VLAN 30</a:t>
            </a:r>
            <a:endParaRPr lang="en-US" sz="1159" dirty="0"/>
          </a:p>
        </p:txBody>
      </p:sp>
      <p:sp>
        <p:nvSpPr>
          <p:cNvPr id="23" name="Shape 11"/>
          <p:cNvSpPr/>
          <p:nvPr/>
        </p:nvSpPr>
        <p:spPr>
          <a:xfrm>
            <a:off x="815895" y="4384597"/>
            <a:ext cx="1771616" cy="730197"/>
          </a:xfrm>
          <a:prstGeom prst="roundRect">
            <a:avLst>
              <a:gd name="adj" fmla="val 10001"/>
            </a:avLst>
          </a:prstGeom>
          <a:solidFill>
            <a:srgbClr val="FBEFE6"/>
          </a:solidFill>
          <a:ln w="6350">
            <a:solidFill>
              <a:srgbClr val="E8C9B2"/>
            </a:solidFill>
            <a:prstDash val="solid"/>
          </a:ln>
        </p:spPr>
      </p:sp>
      <p:sp>
        <p:nvSpPr>
          <p:cNvPr id="24" name="Text 12"/>
          <p:cNvSpPr/>
          <p:nvPr/>
        </p:nvSpPr>
        <p:spPr>
          <a:xfrm>
            <a:off x="945501" y="4514204"/>
            <a:ext cx="1563203" cy="265330"/>
          </a:xfrm>
          <a:prstGeom prst="rect">
            <a:avLst/>
          </a:prstGeom>
          <a:noFill/>
          <a:ln/>
        </p:spPr>
        <p:txBody>
          <a:bodyPr wrap="square" lIns="0" tIns="0" rIns="0" bIns="0" rtlCol="0" anchor="t">
            <a:normAutofit/>
          </a:bodyPr>
          <a:lstStyle/>
          <a:p>
            <a:pPr algn="l" indent="0" marL="0">
              <a:lnSpc>
                <a:spcPts val="1923"/>
              </a:lnSpc>
              <a:buNone/>
            </a:pPr>
            <a:r>
              <a:rPr lang="en-US" sz="1374" b="1" dirty="0">
                <a:solidFill>
                  <a:srgbClr val="0F1E2E"/>
                </a:solidFill>
                <a:latin typeface="IBM Plex Sans" pitchFamily="34" charset="0"/>
                <a:ea typeface="IBM Plex Sans" pitchFamily="34" charset="-122"/>
                <a:cs typeface="IBM Plex Sans" pitchFamily="34" charset="-120"/>
              </a:rPr>
              <a:t>Quarantine</a:t>
            </a:r>
            <a:endParaRPr lang="en-US" sz="1374" dirty="0"/>
          </a:p>
        </p:txBody>
      </p:sp>
      <p:sp>
        <p:nvSpPr>
          <p:cNvPr id="25" name="Text 13"/>
          <p:cNvSpPr/>
          <p:nvPr/>
        </p:nvSpPr>
        <p:spPr>
          <a:xfrm>
            <a:off x="945501" y="4779494"/>
            <a:ext cx="1563203" cy="231093"/>
          </a:xfrm>
          <a:prstGeom prst="rect">
            <a:avLst/>
          </a:prstGeom>
          <a:noFill/>
          <a:ln/>
        </p:spPr>
        <p:txBody>
          <a:bodyPr wrap="square" lIns="0" tIns="0" rIns="0" bIns="0" rtlCol="0" anchor="t">
            <a:normAutofit/>
          </a:bodyPr>
          <a:lstStyle/>
          <a:p>
            <a:pPr algn="l" indent="0" marL="0">
              <a:lnSpc>
                <a:spcPts val="1622"/>
              </a:lnSpc>
              <a:buNone/>
            </a:pPr>
            <a:r>
              <a:rPr lang="en-US" sz="1159" dirty="0">
                <a:solidFill>
                  <a:srgbClr val="A9521A"/>
                </a:solidFill>
                <a:latin typeface="IBM Plex Sans" pitchFamily="34" charset="0"/>
                <a:ea typeface="IBM Plex Sans" pitchFamily="34" charset="-122"/>
                <a:cs typeface="IBM Plex Sans" pitchFamily="34" charset="-120"/>
              </a:rPr>
              <a:t>VLAN 99</a:t>
            </a:r>
            <a:endParaRPr lang="en-US" sz="1159" dirty="0"/>
          </a:p>
        </p:txBody>
      </p:sp>
      <p:sp>
        <p:nvSpPr>
          <p:cNvPr id="26" name="Shape 14"/>
          <p:cNvSpPr/>
          <p:nvPr/>
        </p:nvSpPr>
        <p:spPr>
          <a:xfrm>
            <a:off x="3003531" y="2546314"/>
            <a:ext cx="1765266" cy="1638281"/>
          </a:xfrm>
          <a:prstGeom prst="roundRect">
            <a:avLst>
              <a:gd name="adj" fmla="val 4264"/>
            </a:avLst>
          </a:prstGeom>
          <a:solidFill>
            <a:srgbClr val="FCFDFB"/>
          </a:solidFill>
          <a:ln w="12700">
            <a:solidFill>
              <a:srgbClr val="0B6E6E"/>
            </a:solidFill>
            <a:prstDash val="solid"/>
          </a:ln>
        </p:spPr>
      </p:sp>
      <p:sp>
        <p:nvSpPr>
          <p:cNvPr id="27" name="Text 15"/>
          <p:cNvSpPr/>
          <p:nvPr/>
        </p:nvSpPr>
        <p:spPr>
          <a:xfrm>
            <a:off x="3135759" y="2678542"/>
            <a:ext cx="155161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Access switch</a:t>
            </a:r>
            <a:endParaRPr lang="en-US" sz="1400" dirty="0"/>
          </a:p>
        </p:txBody>
      </p:sp>
      <p:sp>
        <p:nvSpPr>
          <p:cNvPr id="28" name="Text 16"/>
          <p:cNvSpPr/>
          <p:nvPr/>
        </p:nvSpPr>
        <p:spPr>
          <a:xfrm>
            <a:off x="3135759" y="2978161"/>
            <a:ext cx="1551610"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802.1X on every port; mirror port to the SIEM</a:t>
            </a:r>
            <a:endParaRPr lang="en-US" sz="1200" dirty="0"/>
          </a:p>
        </p:txBody>
      </p:sp>
      <p:sp>
        <p:nvSpPr>
          <p:cNvPr id="29" name="Shape 17"/>
          <p:cNvSpPr/>
          <p:nvPr/>
        </p:nvSpPr>
        <p:spPr>
          <a:xfrm>
            <a:off x="5187902" y="2546314"/>
            <a:ext cx="1765266" cy="1638281"/>
          </a:xfrm>
          <a:prstGeom prst="roundRect">
            <a:avLst>
              <a:gd name="adj" fmla="val 4264"/>
            </a:avLst>
          </a:prstGeom>
          <a:solidFill>
            <a:srgbClr val="FCFDFB"/>
          </a:solidFill>
          <a:ln w="12700">
            <a:solidFill>
              <a:srgbClr val="0B6E6E"/>
            </a:solidFill>
            <a:prstDash val="solid"/>
          </a:ln>
        </p:spPr>
      </p:sp>
      <p:sp>
        <p:nvSpPr>
          <p:cNvPr id="30" name="Text 18"/>
          <p:cNvSpPr/>
          <p:nvPr/>
        </p:nvSpPr>
        <p:spPr>
          <a:xfrm>
            <a:off x="5320130" y="2678542"/>
            <a:ext cx="155161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Core switch</a:t>
            </a:r>
            <a:endParaRPr lang="en-US" sz="1400" dirty="0"/>
          </a:p>
        </p:txBody>
      </p:sp>
      <p:sp>
        <p:nvSpPr>
          <p:cNvPr id="31" name="Text 19"/>
          <p:cNvSpPr/>
          <p:nvPr/>
        </p:nvSpPr>
        <p:spPr>
          <a:xfrm>
            <a:off x="5320130" y="2978161"/>
            <a:ext cx="1551610" cy="66557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Routes the VLANs and enforces the ZT_POLICY ACL</a:t>
            </a:r>
            <a:endParaRPr lang="en-US" sz="1200" dirty="0"/>
          </a:p>
        </p:txBody>
      </p:sp>
      <p:sp>
        <p:nvSpPr>
          <p:cNvPr id="32" name="Shape 20"/>
          <p:cNvSpPr/>
          <p:nvPr/>
        </p:nvSpPr>
        <p:spPr>
          <a:xfrm>
            <a:off x="7372273" y="2546314"/>
            <a:ext cx="1765266" cy="1638281"/>
          </a:xfrm>
          <a:prstGeom prst="roundRect">
            <a:avLst>
              <a:gd name="adj" fmla="val 4264"/>
            </a:avLst>
          </a:prstGeom>
          <a:solidFill>
            <a:srgbClr val="FCFDFB"/>
          </a:solidFill>
          <a:ln w="12700">
            <a:solidFill>
              <a:srgbClr val="0B6E6E"/>
            </a:solidFill>
            <a:prstDash val="solid"/>
          </a:ln>
        </p:spPr>
      </p:sp>
      <p:sp>
        <p:nvSpPr>
          <p:cNvPr id="33" name="Text 21"/>
          <p:cNvSpPr/>
          <p:nvPr/>
        </p:nvSpPr>
        <p:spPr>
          <a:xfrm>
            <a:off x="7504501" y="2678542"/>
            <a:ext cx="1551610"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Edge firewall</a:t>
            </a:r>
            <a:endParaRPr lang="en-US" sz="1400" dirty="0"/>
          </a:p>
        </p:txBody>
      </p:sp>
      <p:sp>
        <p:nvSpPr>
          <p:cNvPr id="34" name="Text 22"/>
          <p:cNvSpPr/>
          <p:nvPr/>
        </p:nvSpPr>
        <p:spPr>
          <a:xfrm>
            <a:off x="7504501" y="2978161"/>
            <a:ext cx="1551610"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Linux iptables, default deny</a:t>
            </a:r>
            <a:endParaRPr lang="en-US" sz="1200" dirty="0"/>
          </a:p>
        </p:txBody>
      </p:sp>
      <p:sp>
        <p:nvSpPr>
          <p:cNvPr id="35" name="Shape 23"/>
          <p:cNvSpPr/>
          <p:nvPr/>
        </p:nvSpPr>
        <p:spPr>
          <a:xfrm>
            <a:off x="9553559" y="2098602"/>
            <a:ext cx="1822428" cy="946125"/>
          </a:xfrm>
          <a:prstGeom prst="roundRect">
            <a:avLst>
              <a:gd name="adj" fmla="val 7718"/>
            </a:avLst>
          </a:prstGeom>
          <a:solidFill>
            <a:srgbClr val="FCFDFB"/>
          </a:solidFill>
          <a:ln w="6350">
            <a:solidFill>
              <a:srgbClr val="D5DDD9"/>
            </a:solidFill>
            <a:prstDash val="solid"/>
          </a:ln>
        </p:spPr>
      </p:sp>
      <p:sp>
        <p:nvSpPr>
          <p:cNvPr id="36" name="Text 24"/>
          <p:cNvSpPr/>
          <p:nvPr/>
        </p:nvSpPr>
        <p:spPr>
          <a:xfrm>
            <a:off x="9683166" y="2228210"/>
            <a:ext cx="1614015"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DMZ web</a:t>
            </a:r>
            <a:endParaRPr lang="en-US" sz="1400" dirty="0"/>
          </a:p>
        </p:txBody>
      </p:sp>
      <p:sp>
        <p:nvSpPr>
          <p:cNvPr id="37" name="Text 25"/>
          <p:cNvSpPr/>
          <p:nvPr/>
        </p:nvSpPr>
        <p:spPr>
          <a:xfrm>
            <a:off x="9683166" y="2502467"/>
            <a:ext cx="161401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10.10.40.0/24</a:t>
            </a:r>
            <a:endParaRPr lang="en-US" sz="1200" dirty="0"/>
          </a:p>
        </p:txBody>
      </p:sp>
      <p:sp>
        <p:nvSpPr>
          <p:cNvPr id="38" name="Shape 26"/>
          <p:cNvSpPr/>
          <p:nvPr/>
        </p:nvSpPr>
        <p:spPr>
          <a:xfrm>
            <a:off x="9553559" y="3686091"/>
            <a:ext cx="1822428" cy="946125"/>
          </a:xfrm>
          <a:prstGeom prst="roundRect">
            <a:avLst>
              <a:gd name="adj" fmla="val 7718"/>
            </a:avLst>
          </a:prstGeom>
          <a:solidFill>
            <a:srgbClr val="FCFDFB"/>
          </a:solidFill>
          <a:ln w="6350">
            <a:solidFill>
              <a:srgbClr val="D5DDD9"/>
            </a:solidFill>
            <a:prstDash val="solid"/>
          </a:ln>
        </p:spPr>
      </p:sp>
      <p:sp>
        <p:nvSpPr>
          <p:cNvPr id="39" name="Text 27"/>
          <p:cNvSpPr/>
          <p:nvPr/>
        </p:nvSpPr>
        <p:spPr>
          <a:xfrm>
            <a:off x="9683166" y="3815697"/>
            <a:ext cx="1614015"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Internet</a:t>
            </a:r>
            <a:endParaRPr lang="en-US" sz="1400" dirty="0"/>
          </a:p>
        </p:txBody>
      </p:sp>
      <p:sp>
        <p:nvSpPr>
          <p:cNvPr id="40" name="Text 28"/>
          <p:cNvSpPr/>
          <p:nvPr/>
        </p:nvSpPr>
        <p:spPr>
          <a:xfrm>
            <a:off x="9683166" y="4089955"/>
            <a:ext cx="161401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through NAT</a:t>
            </a:r>
            <a:endParaRPr lang="en-US" sz="1200" dirty="0"/>
          </a:p>
        </p:txBody>
      </p:sp>
      <p:sp>
        <p:nvSpPr>
          <p:cNvPr id="41" name="Shape 29"/>
          <p:cNvSpPr/>
          <p:nvPr/>
        </p:nvSpPr>
        <p:spPr>
          <a:xfrm>
            <a:off x="2997181" y="4571991"/>
            <a:ext cx="1777966" cy="698415"/>
          </a:xfrm>
          <a:prstGeom prst="roundRect">
            <a:avLst>
              <a:gd name="adj" fmla="val 10910"/>
            </a:avLst>
          </a:prstGeom>
          <a:solidFill>
            <a:srgbClr val="E2EFED"/>
          </a:solidFill>
          <a:ln/>
        </p:spPr>
      </p:sp>
      <p:sp>
        <p:nvSpPr>
          <p:cNvPr id="42" name="Text 30"/>
          <p:cNvSpPr/>
          <p:nvPr/>
        </p:nvSpPr>
        <p:spPr>
          <a:xfrm>
            <a:off x="3124166" y="4698975"/>
            <a:ext cx="1574797" cy="251020"/>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0F1E2E"/>
                </a:solidFill>
                <a:latin typeface="IBM Plex Sans" pitchFamily="34" charset="0"/>
                <a:ea typeface="IBM Plex Sans" pitchFamily="34" charset="-122"/>
                <a:cs typeface="IBM Plex Sans" pitchFamily="34" charset="-120"/>
              </a:rPr>
              <a:t>FreeRADIUS</a:t>
            </a:r>
            <a:endParaRPr lang="en-US" sz="1299" dirty="0"/>
          </a:p>
        </p:txBody>
      </p:sp>
      <p:sp>
        <p:nvSpPr>
          <p:cNvPr id="43" name="Text 31"/>
          <p:cNvSpPr/>
          <p:nvPr/>
        </p:nvSpPr>
        <p:spPr>
          <a:xfrm>
            <a:off x="3124166" y="4949955"/>
            <a:ext cx="1574797" cy="218866"/>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868"/>
                </a:solidFill>
                <a:latin typeface="IBM Plex Sans" pitchFamily="34" charset="0"/>
                <a:ea typeface="IBM Plex Sans" pitchFamily="34" charset="-122"/>
                <a:cs typeface="IBM Plex Sans" pitchFamily="34" charset="-120"/>
              </a:rPr>
              <a:t>who you are</a:t>
            </a:r>
            <a:endParaRPr lang="en-US" sz="1088" dirty="0"/>
          </a:p>
        </p:txBody>
      </p:sp>
      <p:sp>
        <p:nvSpPr>
          <p:cNvPr id="44" name="Shape 32"/>
          <p:cNvSpPr/>
          <p:nvPr/>
        </p:nvSpPr>
        <p:spPr>
          <a:xfrm>
            <a:off x="5181552" y="4571991"/>
            <a:ext cx="1777966" cy="698415"/>
          </a:xfrm>
          <a:prstGeom prst="roundRect">
            <a:avLst>
              <a:gd name="adj" fmla="val 10910"/>
            </a:avLst>
          </a:prstGeom>
          <a:solidFill>
            <a:srgbClr val="E2EFED"/>
          </a:solidFill>
          <a:ln/>
        </p:spPr>
      </p:sp>
      <p:sp>
        <p:nvSpPr>
          <p:cNvPr id="45" name="Text 33"/>
          <p:cNvSpPr/>
          <p:nvPr/>
        </p:nvSpPr>
        <p:spPr>
          <a:xfrm>
            <a:off x="5308537" y="4698975"/>
            <a:ext cx="1574797" cy="251020"/>
          </a:xfrm>
          <a:prstGeom prst="rect">
            <a:avLst/>
          </a:prstGeom>
          <a:noFill/>
          <a:ln/>
        </p:spPr>
        <p:txBody>
          <a:bodyPr wrap="square" lIns="0" tIns="0" rIns="0" bIns="0" rtlCol="0" anchor="t">
            <a:normAutofit/>
          </a:bodyPr>
          <a:lstStyle/>
          <a:p>
            <a:pPr algn="l" indent="0" marL="0">
              <a:lnSpc>
                <a:spcPts val="1819"/>
              </a:lnSpc>
              <a:buNone/>
            </a:pPr>
            <a:r>
              <a:rPr lang="en-US" sz="1299" b="1" dirty="0">
                <a:solidFill>
                  <a:srgbClr val="0F1E2E"/>
                </a:solidFill>
                <a:latin typeface="IBM Plex Sans" pitchFamily="34" charset="0"/>
                <a:ea typeface="IBM Plex Sans" pitchFamily="34" charset="-122"/>
                <a:cs typeface="IBM Plex Sans" pitchFamily="34" charset="-120"/>
              </a:rPr>
              <a:t>SIEM host</a:t>
            </a:r>
            <a:endParaRPr lang="en-US" sz="1299" dirty="0"/>
          </a:p>
        </p:txBody>
      </p:sp>
      <p:sp>
        <p:nvSpPr>
          <p:cNvPr id="46" name="Text 34"/>
          <p:cNvSpPr/>
          <p:nvPr/>
        </p:nvSpPr>
        <p:spPr>
          <a:xfrm>
            <a:off x="5308537" y="4949955"/>
            <a:ext cx="1574797" cy="218866"/>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868"/>
                </a:solidFill>
                <a:latin typeface="IBM Plex Sans" pitchFamily="34" charset="0"/>
                <a:ea typeface="IBM Plex Sans" pitchFamily="34" charset="-122"/>
                <a:cs typeface="IBM Plex Sans" pitchFamily="34" charset="-120"/>
              </a:rPr>
              <a:t>what you do</a:t>
            </a:r>
            <a:endParaRPr lang="en-US" sz="1088" dirty="0"/>
          </a:p>
        </p:txBody>
      </p:sp>
      <p:sp>
        <p:nvSpPr>
          <p:cNvPr id="47" name="Text 35"/>
          <p:cNvSpPr/>
          <p:nvPr/>
        </p:nvSpPr>
        <p:spPr>
          <a:xfrm>
            <a:off x="812720" y="5499013"/>
            <a:ext cx="10883342"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Guests reach only the DMZ and internet · Quarantine reaches only RADIUS and the SIEM · The DMZ never opens a connection inward</a:t>
            </a:r>
            <a:endParaRPr lang="en-US" sz="1200" dirty="0"/>
          </a:p>
        </p:txBody>
      </p:sp>
      <p:sp>
        <p:nvSpPr>
          <p:cNvPr id="48" name="Text 36"/>
          <p:cNvSpPr/>
          <p:nvPr/>
        </p:nvSpPr>
        <p:spPr>
          <a:xfrm>
            <a:off x="812720" y="6238280"/>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49" name="Text 37"/>
          <p:cNvSpPr/>
          <p:nvPr/>
        </p:nvSpPr>
        <p:spPr>
          <a:xfrm>
            <a:off x="10893668" y="6238280"/>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4 / 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DESIGN AND ANALYSIS</a:t>
            </a:r>
            <a:endParaRPr lang="en-US" sz="1200" dirty="0"/>
          </a:p>
        </p:txBody>
      </p:sp>
      <p:sp>
        <p:nvSpPr>
          <p:cNvPr id="3" name="Text 1"/>
          <p:cNvSpPr/>
          <p:nvPr>
            <p:ph type="title"/>
          </p:nvPr>
        </p:nvSpPr>
        <p:spPr>
          <a:xfrm>
            <a:off x="812720" y="1102286"/>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Signalling: 802.1X login and VLAN</a:t>
            </a:r>
            <a:endParaRPr lang="en-US" sz="3200" dirty="0"/>
          </a:p>
        </p:txBody>
      </p:sp>
      <p:pic>
        <p:nvPicPr>
          <p:cNvPr id="4" name="Image 0" descr="Three dashed lifelines">    </p:cNvPr>
          <p:cNvPicPr>
            <a:picLocks noChangeAspect="1"/>
          </p:cNvPicPr>
          <p:nvPr/>
        </p:nvPicPr>
        <p:blipFill>
          <a:blip r:embed="rId1"/>
          <a:srcRect l="0" r="0" t="0" b="0"/>
          <a:stretch/>
        </p:blipFill>
        <p:spPr>
          <a:xfrm>
            <a:off x="812720" y="2285994"/>
            <a:ext cx="10566352" cy="3301962"/>
          </a:xfrm>
          <a:prstGeom prst="rect">
            <a:avLst/>
          </a:prstGeom>
        </p:spPr>
      </p:pic>
      <p:sp>
        <p:nvSpPr>
          <p:cNvPr id="5" name="Text 2"/>
          <p:cNvSpPr/>
          <p:nvPr/>
        </p:nvSpPr>
        <p:spPr>
          <a:xfrm>
            <a:off x="888983" y="1777966"/>
            <a:ext cx="2031935" cy="507938"/>
          </a:xfrm>
          <a:prstGeom prst="roundRect">
            <a:avLst>
              <a:gd name="adj" fmla="val 15002"/>
            </a:avLst>
          </a:prstGeom>
          <a:solidFill>
            <a:srgbClr val="0F1E2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Staff PC</a:t>
            </a:r>
            <a:endParaRPr lang="en-US" sz="1400" dirty="0"/>
          </a:p>
        </p:txBody>
      </p:sp>
      <p:sp>
        <p:nvSpPr>
          <p:cNvPr id="6" name="Text 3"/>
          <p:cNvSpPr/>
          <p:nvPr/>
        </p:nvSpPr>
        <p:spPr>
          <a:xfrm>
            <a:off x="5079928" y="1777966"/>
            <a:ext cx="2031935" cy="507938"/>
          </a:xfrm>
          <a:prstGeom prst="roundRect">
            <a:avLst>
              <a:gd name="adj" fmla="val 15002"/>
            </a:avLst>
          </a:prstGeom>
          <a:solidFill>
            <a:srgbClr val="0F1E2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Access switch</a:t>
            </a:r>
            <a:endParaRPr lang="en-US" sz="1400" dirty="0"/>
          </a:p>
        </p:txBody>
      </p:sp>
      <p:sp>
        <p:nvSpPr>
          <p:cNvPr id="7" name="Text 4"/>
          <p:cNvSpPr/>
          <p:nvPr/>
        </p:nvSpPr>
        <p:spPr>
          <a:xfrm>
            <a:off x="9270964" y="1777966"/>
            <a:ext cx="2031935" cy="507938"/>
          </a:xfrm>
          <a:prstGeom prst="roundRect">
            <a:avLst>
              <a:gd name="adj" fmla="val 15002"/>
            </a:avLst>
          </a:prstGeom>
          <a:solidFill>
            <a:srgbClr val="0F1E2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FreeRADIUS</a:t>
            </a:r>
            <a:endParaRPr lang="en-US" sz="1400" dirty="0"/>
          </a:p>
        </p:txBody>
      </p:sp>
      <p:pic>
        <p:nvPicPr>
          <p:cNvPr id="8" name="Image 1" descr="connector">    </p:cNvPr>
          <p:cNvPicPr>
            <a:picLocks noChangeAspect="1"/>
          </p:cNvPicPr>
          <p:nvPr/>
        </p:nvPicPr>
        <p:blipFill>
          <a:blip r:embed="rId2"/>
          <a:srcRect l="-33" r="-33" t="0" b="0"/>
          <a:stretch/>
        </p:blipFill>
        <p:spPr>
          <a:xfrm>
            <a:off x="1854138" y="2679629"/>
            <a:ext cx="4292569" cy="101533"/>
          </a:xfrm>
          <a:prstGeom prst="rect">
            <a:avLst/>
          </a:prstGeom>
        </p:spPr>
      </p:pic>
      <p:sp>
        <p:nvSpPr>
          <p:cNvPr id="9" name="Text 5"/>
          <p:cNvSpPr/>
          <p:nvPr/>
        </p:nvSpPr>
        <p:spPr>
          <a:xfrm>
            <a:off x="1972880" y="2476472"/>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1 · EAPOL-Start</a:t>
            </a:r>
            <a:endParaRPr lang="en-US" sz="1200" dirty="0"/>
          </a:p>
        </p:txBody>
      </p:sp>
      <p:pic>
        <p:nvPicPr>
          <p:cNvPr id="10" name="Image 2" descr="connector">    </p:cNvPr>
          <p:cNvPicPr>
            <a:picLocks noChangeAspect="1"/>
          </p:cNvPicPr>
          <p:nvPr/>
        </p:nvPicPr>
        <p:blipFill>
          <a:blip r:embed="rId3"/>
          <a:srcRect l="-33" r="-33" t="0" b="0"/>
          <a:stretch/>
        </p:blipFill>
        <p:spPr>
          <a:xfrm>
            <a:off x="1854138" y="3124166"/>
            <a:ext cx="4292569" cy="101533"/>
          </a:xfrm>
          <a:prstGeom prst="rect">
            <a:avLst/>
          </a:prstGeom>
        </p:spPr>
      </p:pic>
      <p:sp>
        <p:nvSpPr>
          <p:cNvPr id="11" name="Text 6"/>
          <p:cNvSpPr/>
          <p:nvPr/>
        </p:nvSpPr>
        <p:spPr>
          <a:xfrm>
            <a:off x="1972880" y="2920919"/>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2 · EAP-Request: Identity</a:t>
            </a:r>
            <a:endParaRPr lang="en-US" sz="1200" dirty="0"/>
          </a:p>
        </p:txBody>
      </p:sp>
      <p:pic>
        <p:nvPicPr>
          <p:cNvPr id="12" name="Image 3" descr="connector">    </p:cNvPr>
          <p:cNvPicPr>
            <a:picLocks noChangeAspect="1"/>
          </p:cNvPicPr>
          <p:nvPr/>
        </p:nvPicPr>
        <p:blipFill>
          <a:blip r:embed="rId4"/>
          <a:srcRect l="-33" r="-33" t="0" b="0"/>
          <a:stretch/>
        </p:blipFill>
        <p:spPr>
          <a:xfrm>
            <a:off x="1854138" y="3568613"/>
            <a:ext cx="4292569" cy="101533"/>
          </a:xfrm>
          <a:prstGeom prst="rect">
            <a:avLst/>
          </a:prstGeom>
        </p:spPr>
      </p:pic>
      <p:sp>
        <p:nvSpPr>
          <p:cNvPr id="13" name="Text 7"/>
          <p:cNvSpPr/>
          <p:nvPr/>
        </p:nvSpPr>
        <p:spPr>
          <a:xfrm>
            <a:off x="1972880" y="3365457"/>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3 · EAP-Response: “alice”</a:t>
            </a:r>
            <a:endParaRPr lang="en-US" sz="1200" dirty="0"/>
          </a:p>
        </p:txBody>
      </p:sp>
      <p:pic>
        <p:nvPicPr>
          <p:cNvPr id="14" name="Image 4" descr="connector">    </p:cNvPr>
          <p:cNvPicPr>
            <a:picLocks noChangeAspect="1"/>
          </p:cNvPicPr>
          <p:nvPr/>
        </p:nvPicPr>
        <p:blipFill>
          <a:blip r:embed="rId5"/>
          <a:srcRect l="-33" r="-33" t="0" b="0"/>
          <a:stretch/>
        </p:blipFill>
        <p:spPr>
          <a:xfrm>
            <a:off x="6045174" y="4013150"/>
            <a:ext cx="4292569" cy="101533"/>
          </a:xfrm>
          <a:prstGeom prst="rect">
            <a:avLst/>
          </a:prstGeom>
        </p:spPr>
      </p:pic>
      <p:sp>
        <p:nvSpPr>
          <p:cNvPr id="15" name="Text 8"/>
          <p:cNvSpPr/>
          <p:nvPr/>
        </p:nvSpPr>
        <p:spPr>
          <a:xfrm>
            <a:off x="6163916" y="3809991"/>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4 · RADIUS Access-Request</a:t>
            </a:r>
            <a:endParaRPr lang="en-US" sz="1200" dirty="0"/>
          </a:p>
        </p:txBody>
      </p:sp>
      <p:pic>
        <p:nvPicPr>
          <p:cNvPr id="16" name="Image 5" descr="connector">    </p:cNvPr>
          <p:cNvPicPr>
            <a:picLocks noChangeAspect="1"/>
          </p:cNvPicPr>
          <p:nvPr/>
        </p:nvPicPr>
        <p:blipFill>
          <a:blip r:embed="rId6"/>
          <a:srcRect l="-33" r="-33" t="0" b="0"/>
          <a:stretch/>
        </p:blipFill>
        <p:spPr>
          <a:xfrm>
            <a:off x="1854138" y="4457684"/>
            <a:ext cx="8483515" cy="101533"/>
          </a:xfrm>
          <a:prstGeom prst="rect">
            <a:avLst/>
          </a:prstGeom>
        </p:spPr>
      </p:pic>
      <p:sp>
        <p:nvSpPr>
          <p:cNvPr id="17" name="Text 9"/>
          <p:cNvSpPr/>
          <p:nvPr/>
        </p:nvSpPr>
        <p:spPr>
          <a:xfrm>
            <a:off x="1972880" y="4254438"/>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E6E"/>
                </a:solidFill>
                <a:latin typeface="IBM Plex Sans" pitchFamily="34" charset="0"/>
                <a:ea typeface="IBM Plex Sans" pitchFamily="34" charset="-122"/>
                <a:cs typeface="IBM Plex Sans" pitchFamily="34" charset="-120"/>
              </a:rPr>
              <a:t>5 · PEAP tunnel: password checked</a:t>
            </a:r>
            <a:endParaRPr lang="en-US" sz="1200" dirty="0"/>
          </a:p>
        </p:txBody>
      </p:sp>
      <p:pic>
        <p:nvPicPr>
          <p:cNvPr id="18" name="Image 6" descr="connector">    </p:cNvPr>
          <p:cNvPicPr>
            <a:picLocks noChangeAspect="1"/>
          </p:cNvPicPr>
          <p:nvPr/>
        </p:nvPicPr>
        <p:blipFill>
          <a:blip r:embed="rId7"/>
          <a:srcRect l="-33" r="-33" t="0" b="0"/>
          <a:stretch/>
        </p:blipFill>
        <p:spPr>
          <a:xfrm>
            <a:off x="6045174" y="4902132"/>
            <a:ext cx="4292569" cy="101533"/>
          </a:xfrm>
          <a:prstGeom prst="rect">
            <a:avLst/>
          </a:prstGeom>
        </p:spPr>
      </p:pic>
      <p:sp>
        <p:nvSpPr>
          <p:cNvPr id="19" name="Text 10"/>
          <p:cNvSpPr/>
          <p:nvPr/>
        </p:nvSpPr>
        <p:spPr>
          <a:xfrm>
            <a:off x="6163916" y="4698975"/>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6 · Access-Accept + VLAN 20</a:t>
            </a:r>
            <a:endParaRPr lang="en-US" sz="1200" dirty="0"/>
          </a:p>
        </p:txBody>
      </p:sp>
      <p:pic>
        <p:nvPicPr>
          <p:cNvPr id="20" name="Image 7" descr="connector">    </p:cNvPr>
          <p:cNvPicPr>
            <a:picLocks noChangeAspect="1"/>
          </p:cNvPicPr>
          <p:nvPr/>
        </p:nvPicPr>
        <p:blipFill>
          <a:blip r:embed="rId8"/>
          <a:srcRect l="-5" r="-5" t="0" b="0"/>
          <a:stretch/>
        </p:blipFill>
        <p:spPr>
          <a:xfrm>
            <a:off x="1841458" y="5333988"/>
            <a:ext cx="4317930" cy="126985"/>
          </a:xfrm>
          <a:prstGeom prst="rect">
            <a:avLst/>
          </a:prstGeom>
        </p:spPr>
      </p:pic>
      <p:sp>
        <p:nvSpPr>
          <p:cNvPr id="21" name="Text 11"/>
          <p:cNvSpPr/>
          <p:nvPr/>
        </p:nvSpPr>
        <p:spPr>
          <a:xfrm>
            <a:off x="1972880" y="5143419"/>
            <a:ext cx="4055085" cy="238792"/>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6E6E"/>
                </a:solidFill>
                <a:latin typeface="IBM Plex Sans" pitchFamily="34" charset="0"/>
                <a:ea typeface="IBM Plex Sans" pitchFamily="34" charset="-122"/>
                <a:cs typeface="IBM Plex Sans" pitchFamily="34" charset="-120"/>
              </a:rPr>
              <a:t>7 · EAP-Success: port opens in VLAN 20</a:t>
            </a:r>
            <a:endParaRPr lang="en-US" sz="1200" dirty="0"/>
          </a:p>
        </p:txBody>
      </p:sp>
      <p:sp>
        <p:nvSpPr>
          <p:cNvPr id="22" name="Text 12"/>
          <p:cNvSpPr/>
          <p:nvPr/>
        </p:nvSpPr>
        <p:spPr>
          <a:xfrm>
            <a:off x="812720" y="6238280"/>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23" name="Text 13"/>
          <p:cNvSpPr/>
          <p:nvPr/>
        </p:nvSpPr>
        <p:spPr>
          <a:xfrm>
            <a:off x="10893668" y="6238280"/>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5 /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DESIGN AND ANALYSIS</a:t>
            </a:r>
            <a:endParaRPr lang="en-US" sz="1200" dirty="0"/>
          </a:p>
        </p:txBody>
      </p:sp>
      <p:sp>
        <p:nvSpPr>
          <p:cNvPr id="3" name="Text 1"/>
          <p:cNvSpPr/>
          <p:nvPr>
            <p:ph type="title"/>
          </p:nvPr>
        </p:nvSpPr>
        <p:spPr>
          <a:xfrm>
            <a:off x="812720" y="1102286"/>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Signalling: detect and quarantine</a:t>
            </a:r>
            <a:endParaRPr lang="en-US" sz="3200" dirty="0"/>
          </a:p>
        </p:txBody>
      </p:sp>
      <p:pic>
        <p:nvPicPr>
          <p:cNvPr id="4" name="Image 0" descr="Five dashed lifelines">    </p:cNvPr>
          <p:cNvPicPr>
            <a:picLocks noChangeAspect="1"/>
          </p:cNvPicPr>
          <p:nvPr/>
        </p:nvPicPr>
        <p:blipFill>
          <a:blip r:embed="rId1"/>
          <a:srcRect l="-25" r="-25" t="0" b="0"/>
          <a:stretch/>
        </p:blipFill>
        <p:spPr>
          <a:xfrm>
            <a:off x="812720" y="2349488"/>
            <a:ext cx="10566352" cy="3238470"/>
          </a:xfrm>
          <a:prstGeom prst="rect">
            <a:avLst/>
          </a:prstGeom>
        </p:spPr>
      </p:pic>
      <p:sp>
        <p:nvSpPr>
          <p:cNvPr id="5" name="Text 2"/>
          <p:cNvSpPr/>
          <p:nvPr/>
        </p:nvSpPr>
        <p:spPr>
          <a:xfrm>
            <a:off x="812720" y="1777966"/>
            <a:ext cx="1777966" cy="571431"/>
          </a:xfrm>
          <a:prstGeom prst="roundRect">
            <a:avLst>
              <a:gd name="adj" fmla="val 13335"/>
            </a:avLst>
          </a:prstGeom>
          <a:solidFill>
            <a:srgbClr val="A9521A"/>
          </a:solidFill>
          <a:ln/>
        </p:spPr>
        <p:txBody>
          <a:bodyPr wrap="square" lIns="0" tIns="0" rIns="0" bIns="0" rtlCol="0" anchor="ctr">
            <a:normAutofit/>
          </a:bodyPr>
          <a:lstStyle/>
          <a:p>
            <a:pPr algn="ctr" indent="0" marL="0">
              <a:lnSpc>
                <a:spcPts val="1960"/>
              </a:lnSpc>
              <a:buNone/>
            </a:pPr>
            <a:r>
              <a:rPr lang="en-US" sz="1400" b="1" dirty="0">
                <a:solidFill>
                  <a:srgbClr val="FBF7F2"/>
                </a:solidFill>
                <a:latin typeface="IBM Plex Sans" pitchFamily="34" charset="0"/>
                <a:ea typeface="IBM Plex Sans" pitchFamily="34" charset="-122"/>
                <a:cs typeface="IBM Plex Sans" pitchFamily="34" charset="-120"/>
              </a:rPr>
              <a:t>Guest PC</a:t>
            </a:r>
            <a:endParaRPr lang="en-US" sz="1400" dirty="0"/>
          </a:p>
        </p:txBody>
      </p:sp>
      <p:sp>
        <p:nvSpPr>
          <p:cNvPr id="6" name="Text 3"/>
          <p:cNvSpPr/>
          <p:nvPr/>
        </p:nvSpPr>
        <p:spPr>
          <a:xfrm>
            <a:off x="3009862" y="1777966"/>
            <a:ext cx="1777966" cy="571431"/>
          </a:xfrm>
          <a:prstGeom prst="roundRect">
            <a:avLst>
              <a:gd name="adj" fmla="val 13335"/>
            </a:avLst>
          </a:prstGeom>
          <a:solidFill>
            <a:srgbClr val="0F1E2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Access switch</a:t>
            </a:r>
            <a:endParaRPr lang="en-US" sz="1400" dirty="0"/>
          </a:p>
        </p:txBody>
      </p:sp>
      <p:sp>
        <p:nvSpPr>
          <p:cNvPr id="7" name="Text 4"/>
          <p:cNvSpPr/>
          <p:nvPr/>
        </p:nvSpPr>
        <p:spPr>
          <a:xfrm>
            <a:off x="5206913" y="1777966"/>
            <a:ext cx="1777966" cy="571431"/>
          </a:xfrm>
          <a:prstGeom prst="roundRect">
            <a:avLst>
              <a:gd name="adj" fmla="val 13335"/>
            </a:avLst>
          </a:prstGeom>
          <a:solidFill>
            <a:srgbClr val="0B6E6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SIEM detector</a:t>
            </a:r>
            <a:endParaRPr lang="en-US" sz="1400" dirty="0"/>
          </a:p>
        </p:txBody>
      </p:sp>
      <p:sp>
        <p:nvSpPr>
          <p:cNvPr id="8" name="Text 5"/>
          <p:cNvSpPr/>
          <p:nvPr/>
        </p:nvSpPr>
        <p:spPr>
          <a:xfrm>
            <a:off x="7404055" y="1777966"/>
            <a:ext cx="1777966" cy="571431"/>
          </a:xfrm>
          <a:prstGeom prst="roundRect">
            <a:avLst>
              <a:gd name="adj" fmla="val 13335"/>
            </a:avLst>
          </a:prstGeom>
          <a:solidFill>
            <a:srgbClr val="0F1E2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FreeRADIUS</a:t>
            </a:r>
            <a:endParaRPr lang="en-US" sz="1400" dirty="0"/>
          </a:p>
        </p:txBody>
      </p:sp>
      <p:sp>
        <p:nvSpPr>
          <p:cNvPr id="9" name="Text 6"/>
          <p:cNvSpPr/>
          <p:nvPr/>
        </p:nvSpPr>
        <p:spPr>
          <a:xfrm>
            <a:off x="9601197" y="1777966"/>
            <a:ext cx="1777966" cy="571431"/>
          </a:xfrm>
          <a:prstGeom prst="roundRect">
            <a:avLst>
              <a:gd name="adj" fmla="val 13335"/>
            </a:avLst>
          </a:prstGeom>
          <a:solidFill>
            <a:srgbClr val="0F1E2E"/>
          </a:solidFill>
          <a:ln/>
        </p:spPr>
        <p:txBody>
          <a:bodyPr wrap="square" lIns="0" tIns="0" rIns="0" bIns="0" rtlCol="0" anchor="ctr">
            <a:normAutofit/>
          </a:bodyPr>
          <a:lstStyle/>
          <a:p>
            <a:pPr algn="ctr" indent="0" marL="0">
              <a:lnSpc>
                <a:spcPts val="1960"/>
              </a:lnSpc>
              <a:buNone/>
            </a:pPr>
            <a:r>
              <a:rPr lang="en-US" sz="1400" b="1" dirty="0">
                <a:solidFill>
                  <a:srgbClr val="F4F6F3"/>
                </a:solidFill>
                <a:latin typeface="IBM Plex Sans" pitchFamily="34" charset="0"/>
                <a:ea typeface="IBM Plex Sans" pitchFamily="34" charset="-122"/>
                <a:cs typeface="IBM Plex Sans" pitchFamily="34" charset="-120"/>
              </a:rPr>
              <a:t>Zabbix</a:t>
            </a:r>
            <a:endParaRPr lang="en-US" sz="1400" dirty="0"/>
          </a:p>
        </p:txBody>
      </p:sp>
      <p:pic>
        <p:nvPicPr>
          <p:cNvPr id="10" name="Image 1" descr="connector">    </p:cNvPr>
          <p:cNvPicPr>
            <a:picLocks noChangeAspect="1"/>
          </p:cNvPicPr>
          <p:nvPr/>
        </p:nvPicPr>
        <p:blipFill>
          <a:blip r:embed="rId2"/>
          <a:srcRect l="-33" r="-33" t="0" b="0"/>
          <a:stretch/>
        </p:blipFill>
        <p:spPr>
          <a:xfrm>
            <a:off x="1650981" y="2679629"/>
            <a:ext cx="2298675" cy="101533"/>
          </a:xfrm>
          <a:prstGeom prst="rect">
            <a:avLst/>
          </a:prstGeom>
        </p:spPr>
      </p:pic>
      <p:sp>
        <p:nvSpPr>
          <p:cNvPr id="11" name="Text 7"/>
          <p:cNvSpPr/>
          <p:nvPr/>
        </p:nvSpPr>
        <p:spPr>
          <a:xfrm>
            <a:off x="1747297" y="2476472"/>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521A"/>
                </a:solidFill>
                <a:latin typeface="IBM Plex Sans" pitchFamily="34" charset="0"/>
                <a:ea typeface="IBM Plex Sans" pitchFamily="34" charset="-122"/>
                <a:cs typeface="IBM Plex Sans" pitchFamily="34" charset="-120"/>
              </a:rPr>
              <a:t>1 · Scan: 10+ ports</a:t>
            </a:r>
            <a:endParaRPr lang="en-US" sz="1200" dirty="0"/>
          </a:p>
        </p:txBody>
      </p:sp>
      <p:pic>
        <p:nvPicPr>
          <p:cNvPr id="12" name="Image 2" descr="connector">    </p:cNvPr>
          <p:cNvPicPr>
            <a:picLocks noChangeAspect="1"/>
          </p:cNvPicPr>
          <p:nvPr/>
        </p:nvPicPr>
        <p:blipFill>
          <a:blip r:embed="rId3"/>
          <a:srcRect l="-33" r="-33" t="0" b="0"/>
          <a:stretch/>
        </p:blipFill>
        <p:spPr>
          <a:xfrm>
            <a:off x="3848033" y="3073353"/>
            <a:ext cx="2298675" cy="101533"/>
          </a:xfrm>
          <a:prstGeom prst="rect">
            <a:avLst/>
          </a:prstGeom>
        </p:spPr>
      </p:pic>
      <p:sp>
        <p:nvSpPr>
          <p:cNvPr id="13" name="Text 8"/>
          <p:cNvSpPr/>
          <p:nvPr/>
        </p:nvSpPr>
        <p:spPr>
          <a:xfrm>
            <a:off x="3944348" y="2870197"/>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E6E"/>
                </a:solidFill>
                <a:latin typeface="IBM Plex Sans" pitchFamily="34" charset="0"/>
                <a:ea typeface="IBM Plex Sans" pitchFamily="34" charset="-122"/>
                <a:cs typeface="IBM Plex Sans" pitchFamily="34" charset="-120"/>
              </a:rPr>
              <a:t>2 · Mirror copy</a:t>
            </a:r>
            <a:endParaRPr lang="en-US" sz="1200" dirty="0"/>
          </a:p>
        </p:txBody>
      </p:sp>
      <p:sp>
        <p:nvSpPr>
          <p:cNvPr id="14" name="Text 9"/>
          <p:cNvSpPr/>
          <p:nvPr/>
        </p:nvSpPr>
        <p:spPr>
          <a:xfrm>
            <a:off x="5083103" y="3343269"/>
            <a:ext cx="2025585" cy="269357"/>
          </a:xfrm>
          <a:custGeom>
            <a:avLst/>
            <a:gdLst/>
            <a:ahLst/>
            <a:cxnLst/>
            <a:rect l="l" t="t" r="r" b="b"/>
            <a:pathLst>
              <a:path w="2025585" h="269357">
                <a:moveTo>
                  <a:pt x="47625" y="0"/>
                </a:moveTo>
                <a:lnTo>
                  <a:pt x="1977960" y="0"/>
                </a:lnTo>
                <a:arcTo hR="47625" wR="47625" stAng="16200000" swAng="5400000"/>
                <a:lnTo>
                  <a:pt x="2025585" y="221732"/>
                </a:lnTo>
                <a:arcTo hR="47625" wR="47625" stAng="0" swAng="5400000"/>
                <a:lnTo>
                  <a:pt x="47625" y="269357"/>
                </a:lnTo>
                <a:arcTo hR="47625" wR="47625" stAng="5400000" swAng="5400000"/>
                <a:lnTo>
                  <a:pt x="0" y="47625"/>
                </a:lnTo>
                <a:arcTo hR="47625" wR="47625" stAng="10800000" swAng="5400000"/>
                <a:close/>
              </a:path>
            </a:pathLst>
          </a:custGeom>
          <a:solidFill>
            <a:srgbClr val="FBEFE6"/>
          </a:solidFill>
          <a:ln w="6350">
            <a:solidFill>
              <a:srgbClr val="E8C9B2"/>
            </a:solidFill>
            <a:prstDash val="solid"/>
          </a:ln>
        </p:spPr>
        <p:txBody>
          <a:bodyPr wrap="square" lIns="24641" tIns="28022" rIns="24641" bIns="2622" rtlCol="0" anchor="t">
            <a:normAutofit/>
          </a:bodyPr>
          <a:lstStyle/>
          <a:p>
            <a:pPr algn="ctr" indent="0" marL="0">
              <a:lnSpc>
                <a:spcPts val="1680"/>
              </a:lnSpc>
              <a:buNone/>
            </a:pPr>
            <a:r>
              <a:rPr lang="en-US" sz="1200" b="1" dirty="0">
                <a:solidFill>
                  <a:srgbClr val="A9521A"/>
                </a:solidFill>
                <a:latin typeface="IBM Plex Sans" pitchFamily="34" charset="0"/>
                <a:ea typeface="IBM Plex Sans" pitchFamily="34" charset="-122"/>
                <a:cs typeface="IBM Plex Sans" pitchFamily="34" charset="-120"/>
              </a:rPr>
              <a:t>3 · Flagged: port scan</a:t>
            </a:r>
            <a:endParaRPr lang="en-US" sz="1200" dirty="0"/>
          </a:p>
        </p:txBody>
      </p:sp>
      <p:pic>
        <p:nvPicPr>
          <p:cNvPr id="15" name="Image 3" descr="connector">    </p:cNvPr>
          <p:cNvPicPr>
            <a:picLocks noChangeAspect="1"/>
          </p:cNvPicPr>
          <p:nvPr/>
        </p:nvPicPr>
        <p:blipFill>
          <a:blip r:embed="rId4"/>
          <a:srcRect l="-33" r="-33" t="0" b="0"/>
          <a:stretch/>
        </p:blipFill>
        <p:spPr>
          <a:xfrm>
            <a:off x="6045174" y="3860713"/>
            <a:ext cx="2298675" cy="101533"/>
          </a:xfrm>
          <a:prstGeom prst="rect">
            <a:avLst/>
          </a:prstGeom>
        </p:spPr>
      </p:pic>
      <p:sp>
        <p:nvSpPr>
          <p:cNvPr id="16" name="Text 10"/>
          <p:cNvSpPr/>
          <p:nvPr/>
        </p:nvSpPr>
        <p:spPr>
          <a:xfrm>
            <a:off x="6141490" y="3657557"/>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4 · Rule: VLAN 99</a:t>
            </a:r>
            <a:endParaRPr lang="en-US" sz="1200" dirty="0"/>
          </a:p>
        </p:txBody>
      </p:sp>
      <p:pic>
        <p:nvPicPr>
          <p:cNvPr id="17" name="Image 4" descr="connector">    </p:cNvPr>
          <p:cNvPicPr>
            <a:picLocks noChangeAspect="1"/>
          </p:cNvPicPr>
          <p:nvPr/>
        </p:nvPicPr>
        <p:blipFill>
          <a:blip r:embed="rId5"/>
          <a:srcRect l="-33" r="-33" t="0" b="0"/>
          <a:stretch/>
        </p:blipFill>
        <p:spPr>
          <a:xfrm>
            <a:off x="3848033" y="4254438"/>
            <a:ext cx="2298675" cy="101533"/>
          </a:xfrm>
          <a:prstGeom prst="rect">
            <a:avLst/>
          </a:prstGeom>
        </p:spPr>
      </p:pic>
      <p:sp>
        <p:nvSpPr>
          <p:cNvPr id="18" name="Text 11"/>
          <p:cNvSpPr/>
          <p:nvPr/>
        </p:nvSpPr>
        <p:spPr>
          <a:xfrm>
            <a:off x="3944348" y="4051281"/>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5 · SSH: bounce port</a:t>
            </a:r>
            <a:endParaRPr lang="en-US" sz="1200" dirty="0"/>
          </a:p>
        </p:txBody>
      </p:sp>
      <p:pic>
        <p:nvPicPr>
          <p:cNvPr id="19" name="Image 5" descr="connector">    </p:cNvPr>
          <p:cNvPicPr>
            <a:picLocks noChangeAspect="1"/>
          </p:cNvPicPr>
          <p:nvPr/>
        </p:nvPicPr>
        <p:blipFill>
          <a:blip r:embed="rId6"/>
          <a:srcRect l="-33" r="-33" t="0" b="0"/>
          <a:stretch/>
        </p:blipFill>
        <p:spPr>
          <a:xfrm>
            <a:off x="1650981" y="4648163"/>
            <a:ext cx="6692868" cy="101533"/>
          </a:xfrm>
          <a:prstGeom prst="rect">
            <a:avLst/>
          </a:prstGeom>
        </p:spPr>
      </p:pic>
      <p:sp>
        <p:nvSpPr>
          <p:cNvPr id="20" name="Text 12"/>
          <p:cNvSpPr/>
          <p:nvPr/>
        </p:nvSpPr>
        <p:spPr>
          <a:xfrm>
            <a:off x="1747297" y="4444916"/>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B2A3A"/>
                </a:solidFill>
                <a:latin typeface="IBM Plex Sans" pitchFamily="34" charset="0"/>
                <a:ea typeface="IBM Plex Sans" pitchFamily="34" charset="-122"/>
                <a:cs typeface="IBM Plex Sans" pitchFamily="34" charset="-120"/>
              </a:rPr>
              <a:t>6 · 802.1X login again</a:t>
            </a:r>
            <a:endParaRPr lang="en-US" sz="1200" dirty="0"/>
          </a:p>
        </p:txBody>
      </p:sp>
      <p:pic>
        <p:nvPicPr>
          <p:cNvPr id="21" name="Image 6" descr="connector">    </p:cNvPr>
          <p:cNvPicPr>
            <a:picLocks noChangeAspect="1"/>
          </p:cNvPicPr>
          <p:nvPr/>
        </p:nvPicPr>
        <p:blipFill>
          <a:blip r:embed="rId7"/>
          <a:srcRect l="-6" r="-6" t="0" b="0"/>
          <a:stretch/>
        </p:blipFill>
        <p:spPr>
          <a:xfrm>
            <a:off x="1638210" y="5029116"/>
            <a:ext cx="6718229" cy="126985"/>
          </a:xfrm>
          <a:prstGeom prst="rect">
            <a:avLst/>
          </a:prstGeom>
        </p:spPr>
      </p:pic>
      <p:sp>
        <p:nvSpPr>
          <p:cNvPr id="22" name="Text 13"/>
          <p:cNvSpPr/>
          <p:nvPr/>
        </p:nvSpPr>
        <p:spPr>
          <a:xfrm>
            <a:off x="1747297" y="4838641"/>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521A"/>
                </a:solidFill>
                <a:latin typeface="IBM Plex Sans" pitchFamily="34" charset="0"/>
                <a:ea typeface="IBM Plex Sans" pitchFamily="34" charset="-122"/>
                <a:cs typeface="IBM Plex Sans" pitchFamily="34" charset="-120"/>
              </a:rPr>
              <a:t>7 · Accept: VLAN 99</a:t>
            </a:r>
            <a:endParaRPr lang="en-US" sz="1200" dirty="0"/>
          </a:p>
        </p:txBody>
      </p:sp>
      <p:pic>
        <p:nvPicPr>
          <p:cNvPr id="23" name="Image 7" descr="connector">    </p:cNvPr>
          <p:cNvPicPr>
            <a:picLocks noChangeAspect="1"/>
          </p:cNvPicPr>
          <p:nvPr/>
        </p:nvPicPr>
        <p:blipFill>
          <a:blip r:embed="rId8"/>
          <a:srcRect l="-32" r="-32" t="0" b="0"/>
          <a:stretch/>
        </p:blipFill>
        <p:spPr>
          <a:xfrm>
            <a:off x="6045174" y="5435522"/>
            <a:ext cx="4495726" cy="101533"/>
          </a:xfrm>
          <a:prstGeom prst="rect">
            <a:avLst/>
          </a:prstGeom>
        </p:spPr>
      </p:pic>
      <p:sp>
        <p:nvSpPr>
          <p:cNvPr id="24" name="Text 14"/>
          <p:cNvSpPr/>
          <p:nvPr/>
        </p:nvSpPr>
        <p:spPr>
          <a:xfrm>
            <a:off x="8338541" y="5232366"/>
            <a:ext cx="2105954" cy="238792"/>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0B6E6E"/>
                </a:solidFill>
                <a:latin typeface="IBM Plex Sans" pitchFamily="34" charset="0"/>
                <a:ea typeface="IBM Plex Sans" pitchFamily="34" charset="-122"/>
                <a:cs typeface="IBM Plex Sans" pitchFamily="34" charset="-120"/>
              </a:rPr>
              <a:t>8 · Alert + email</a:t>
            </a:r>
            <a:endParaRPr lang="en-US" sz="1200" dirty="0"/>
          </a:p>
        </p:txBody>
      </p:sp>
      <p:sp>
        <p:nvSpPr>
          <p:cNvPr id="25" name="Text 15"/>
          <p:cNvSpPr/>
          <p:nvPr/>
        </p:nvSpPr>
        <p:spPr>
          <a:xfrm>
            <a:off x="812720" y="6238280"/>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26" name="Text 16"/>
          <p:cNvSpPr/>
          <p:nvPr/>
        </p:nvSpPr>
        <p:spPr>
          <a:xfrm>
            <a:off x="10893668" y="6238280"/>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6 / 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IMPLEMENTATION</a:t>
            </a:r>
            <a:endParaRPr lang="en-US" sz="1200" dirty="0"/>
          </a:p>
        </p:txBody>
      </p:sp>
      <p:sp>
        <p:nvSpPr>
          <p:cNvPr id="3" name="Text 1"/>
          <p:cNvSpPr/>
          <p:nvPr>
            <p:ph type="title"/>
          </p:nvPr>
        </p:nvSpPr>
        <p:spPr>
          <a:xfrm>
            <a:off x="812720" y="1102286"/>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Real systems and software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13" y="1764017"/>
          <a:ext cx="10554940" cy="2865034"/>
        </p:xfrm>
        <a:graphic>
          <a:graphicData uri="http://schemas.openxmlformats.org/drawingml/2006/table">
            <a:tbl>
              <a:tblPr/>
              <a:tblGrid>
                <a:gridCol w="2110988"/>
                <a:gridCol w="4010877"/>
                <a:gridCol w="4433075"/>
              </a:tblGrid>
              <a:tr h="358129">
                <a:tc>
                  <a:txBody>
                    <a:bodyPr/>
                    <a:lstStyle/>
                    <a:p>
                      <a:pP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Part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c>
                  <a:txBody>
                    <a:bodyPr/>
                    <a:lstStyle/>
                    <a:p>
                      <a:pP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Software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FBD"/>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c>
                  <a:txBody>
                    <a:bodyPr/>
                    <a:lstStyle/>
                    <a:p>
                      <a:pP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What it does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FBD"/>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Lab platform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Containerlab on Kali Linux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Builds the whole network on one laptop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Switches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Arista cEOS 4.36 (core, access)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VLANs, 802.1X, ACL, mirror port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Identity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FreeRADIUS 3.0 with PEAP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Checks logins, returns the VLAN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Edge and DMZ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Linux with iptables; web server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Default-deny firewall and DMZ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Detection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Python, pandas, scikit-learn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Isolation Forest on 8 features per PC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Response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Python with Netmiko (SSH)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Block, quarantine, disable, alert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Monitoring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Zabbix with email alerts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Dashboard of scores and actions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bl>
          </a:graphicData>
        </a:graphic>
      </p:graphicFrame>
      <p:sp>
        <p:nvSpPr>
          <p:cNvPr id="5" name="Text 2"/>
          <p:cNvSpPr/>
          <p:nvPr/>
        </p:nvSpPr>
        <p:spPr>
          <a:xfrm>
            <a:off x="812720" y="4832210"/>
            <a:ext cx="10883529"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Packet Tracer was ruled out: it gives no real packets for detection and no SSH for Python to act on.</a:t>
            </a:r>
            <a:endParaRPr lang="en-US" sz="1400" dirty="0"/>
          </a:p>
        </p:txBody>
      </p:sp>
      <p:sp>
        <p:nvSpPr>
          <p:cNvPr id="6" name="Text 3"/>
          <p:cNvSpPr/>
          <p:nvPr/>
        </p:nvSpPr>
        <p:spPr>
          <a:xfrm>
            <a:off x="812720" y="6238280"/>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7" name="Text 4"/>
          <p:cNvSpPr/>
          <p:nvPr/>
        </p:nvSpPr>
        <p:spPr>
          <a:xfrm>
            <a:off x="10893668" y="6238280"/>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7 /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6ECE9"/>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IMPLEMENTATION</a:t>
            </a:r>
            <a:endParaRPr lang="en-US" sz="1200" dirty="0"/>
          </a:p>
        </p:txBody>
      </p:sp>
      <p:sp>
        <p:nvSpPr>
          <p:cNvPr id="3" name="Text 1"/>
          <p:cNvSpPr/>
          <p:nvPr>
            <p:ph type="title"/>
          </p:nvPr>
        </p:nvSpPr>
        <p:spPr>
          <a:xfrm>
            <a:off x="812720" y="1102286"/>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System architecture</a:t>
            </a:r>
            <a:endParaRPr lang="en-US" sz="3200" dirty="0"/>
          </a:p>
        </p:txBody>
      </p:sp>
      <p:sp>
        <p:nvSpPr>
          <p:cNvPr id="4" name="Shape 2"/>
          <p:cNvSpPr/>
          <p:nvPr/>
        </p:nvSpPr>
        <p:spPr>
          <a:xfrm>
            <a:off x="815895" y="1704789"/>
            <a:ext cx="10560183" cy="990506"/>
          </a:xfrm>
          <a:prstGeom prst="roundRect">
            <a:avLst>
              <a:gd name="adj" fmla="val 9937"/>
            </a:avLst>
          </a:prstGeom>
          <a:solidFill>
            <a:srgbClr val="FCFDFB"/>
          </a:solidFill>
          <a:ln w="6350">
            <a:solidFill>
              <a:srgbClr val="C9D3CF"/>
            </a:solidFill>
            <a:prstDash val="solid"/>
          </a:ln>
        </p:spPr>
      </p:sp>
      <p:sp>
        <p:nvSpPr>
          <p:cNvPr id="5" name="Text 3"/>
          <p:cNvSpPr/>
          <p:nvPr/>
        </p:nvSpPr>
        <p:spPr>
          <a:xfrm>
            <a:off x="1021674" y="1885206"/>
            <a:ext cx="10453084" cy="23870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E2E"/>
                </a:solidFill>
                <a:latin typeface="Space Grotesk" pitchFamily="34" charset="0"/>
                <a:ea typeface="Space Grotesk" pitchFamily="34" charset="-122"/>
                <a:cs typeface="Space Grotesk" pitchFamily="34" charset="-120"/>
              </a:rPr>
              <a:t>Zero Trust network · Containerlab</a:t>
            </a:r>
            <a:endParaRPr lang="en-US" sz="1400" dirty="0"/>
          </a:p>
        </p:txBody>
      </p:sp>
      <p:sp>
        <p:nvSpPr>
          <p:cNvPr id="6" name="Text 4"/>
          <p:cNvSpPr/>
          <p:nvPr/>
        </p:nvSpPr>
        <p:spPr>
          <a:xfrm>
            <a:off x="1021674" y="2200039"/>
            <a:ext cx="1214053" cy="314835"/>
          </a:xfrm>
          <a:prstGeom prst="roundRect">
            <a:avLst>
              <a:gd name="adj" fmla="val 50000"/>
            </a:avLst>
          </a:prstGeom>
          <a:solidFill>
            <a:srgbClr val="E2EFED"/>
          </a:solidFill>
          <a:ln/>
        </p:spPr>
        <p:txBody>
          <a:bodyPr wrap="none" lIns="0" tIns="0" rIns="0" bIns="0" rtlCol="0" anchor="ctr">
            <a:normAutofit/>
          </a:bodyPr>
          <a:lstStyle/>
          <a:p>
            <a:pPr algn="ctr" indent="0" marL="0">
              <a:lnSpc>
                <a:spcPts val="1680"/>
              </a:lnSpc>
              <a:buNone/>
            </a:pPr>
            <a:r>
              <a:rPr lang="en-US" sz="1200" dirty="0">
                <a:solidFill>
                  <a:srgbClr val="0F1E2E"/>
                </a:solidFill>
                <a:latin typeface="IBM Plex Sans" pitchFamily="34" charset="0"/>
                <a:ea typeface="IBM Plex Sans" pitchFamily="34" charset="-122"/>
                <a:cs typeface="IBM Plex Sans" pitchFamily="34" charset="-120"/>
              </a:rPr>
              <a:t>Access switch</a:t>
            </a:r>
            <a:endParaRPr lang="en-US" sz="1200" dirty="0"/>
          </a:p>
        </p:txBody>
      </p:sp>
      <p:sp>
        <p:nvSpPr>
          <p:cNvPr id="7" name="Text 5"/>
          <p:cNvSpPr/>
          <p:nvPr/>
        </p:nvSpPr>
        <p:spPr>
          <a:xfrm>
            <a:off x="2311899" y="2200039"/>
            <a:ext cx="1052650" cy="314835"/>
          </a:xfrm>
          <a:prstGeom prst="roundRect">
            <a:avLst>
              <a:gd name="adj" fmla="val 50000"/>
            </a:avLst>
          </a:prstGeom>
          <a:solidFill>
            <a:srgbClr val="E2EFED"/>
          </a:solidFill>
          <a:ln/>
        </p:spPr>
        <p:txBody>
          <a:bodyPr wrap="none" lIns="0" tIns="0" rIns="0" bIns="0" rtlCol="0" anchor="ctr">
            <a:normAutofit/>
          </a:bodyPr>
          <a:lstStyle/>
          <a:p>
            <a:pPr algn="ctr" indent="0" marL="0">
              <a:lnSpc>
                <a:spcPts val="1680"/>
              </a:lnSpc>
              <a:buNone/>
            </a:pPr>
            <a:r>
              <a:rPr lang="en-US" sz="1200" dirty="0">
                <a:solidFill>
                  <a:srgbClr val="0F1E2E"/>
                </a:solidFill>
                <a:latin typeface="IBM Plex Sans" pitchFamily="34" charset="0"/>
                <a:ea typeface="IBM Plex Sans" pitchFamily="34" charset="-122"/>
                <a:cs typeface="IBM Plex Sans" pitchFamily="34" charset="-120"/>
              </a:rPr>
              <a:t>Core switch</a:t>
            </a:r>
            <a:endParaRPr lang="en-US" sz="1200" dirty="0"/>
          </a:p>
        </p:txBody>
      </p:sp>
      <p:sp>
        <p:nvSpPr>
          <p:cNvPr id="8" name="Text 6"/>
          <p:cNvSpPr/>
          <p:nvPr/>
        </p:nvSpPr>
        <p:spPr>
          <a:xfrm>
            <a:off x="3440722" y="2200039"/>
            <a:ext cx="1108715" cy="314835"/>
          </a:xfrm>
          <a:prstGeom prst="roundRect">
            <a:avLst>
              <a:gd name="adj" fmla="val 50000"/>
            </a:avLst>
          </a:prstGeom>
          <a:solidFill>
            <a:srgbClr val="E2EFED"/>
          </a:solidFill>
          <a:ln/>
        </p:spPr>
        <p:txBody>
          <a:bodyPr wrap="none" lIns="0" tIns="0" rIns="0" bIns="0" rtlCol="0" anchor="ctr">
            <a:normAutofit/>
          </a:bodyPr>
          <a:lstStyle/>
          <a:p>
            <a:pPr algn="ctr" indent="0" marL="0">
              <a:lnSpc>
                <a:spcPts val="1680"/>
              </a:lnSpc>
              <a:buNone/>
            </a:pPr>
            <a:r>
              <a:rPr lang="en-US" sz="1200" dirty="0">
                <a:solidFill>
                  <a:srgbClr val="0F1E2E"/>
                </a:solidFill>
                <a:latin typeface="IBM Plex Sans" pitchFamily="34" charset="0"/>
                <a:ea typeface="IBM Plex Sans" pitchFamily="34" charset="-122"/>
                <a:cs typeface="IBM Plex Sans" pitchFamily="34" charset="-120"/>
              </a:rPr>
              <a:t>FreeRADIUS</a:t>
            </a:r>
            <a:endParaRPr lang="en-US" sz="1200" dirty="0"/>
          </a:p>
        </p:txBody>
      </p:sp>
      <p:sp>
        <p:nvSpPr>
          <p:cNvPr id="9" name="Text 7"/>
          <p:cNvSpPr/>
          <p:nvPr/>
        </p:nvSpPr>
        <p:spPr>
          <a:xfrm>
            <a:off x="4625610" y="2200039"/>
            <a:ext cx="1132264" cy="314835"/>
          </a:xfrm>
          <a:prstGeom prst="roundRect">
            <a:avLst>
              <a:gd name="adj" fmla="val 50000"/>
            </a:avLst>
          </a:prstGeom>
          <a:solidFill>
            <a:srgbClr val="E2EFED"/>
          </a:solidFill>
          <a:ln/>
        </p:spPr>
        <p:txBody>
          <a:bodyPr wrap="none" lIns="0" tIns="0" rIns="0" bIns="0" rtlCol="0" anchor="ctr">
            <a:normAutofit/>
          </a:bodyPr>
          <a:lstStyle/>
          <a:p>
            <a:pPr algn="ctr" indent="0" marL="0">
              <a:lnSpc>
                <a:spcPts val="1680"/>
              </a:lnSpc>
              <a:buNone/>
            </a:pPr>
            <a:r>
              <a:rPr lang="en-US" sz="1200" dirty="0">
                <a:solidFill>
                  <a:srgbClr val="0F1E2E"/>
                </a:solidFill>
                <a:latin typeface="IBM Plex Sans" pitchFamily="34" charset="0"/>
                <a:ea typeface="IBM Plex Sans" pitchFamily="34" charset="-122"/>
                <a:cs typeface="IBM Plex Sans" pitchFamily="34" charset="-120"/>
              </a:rPr>
              <a:t>Edge firewall</a:t>
            </a:r>
            <a:endParaRPr lang="en-US" sz="1200" dirty="0"/>
          </a:p>
        </p:txBody>
      </p:sp>
      <p:sp>
        <p:nvSpPr>
          <p:cNvPr id="10" name="Text 8"/>
          <p:cNvSpPr/>
          <p:nvPr/>
        </p:nvSpPr>
        <p:spPr>
          <a:xfrm>
            <a:off x="5834047" y="2200039"/>
            <a:ext cx="1356978" cy="314835"/>
          </a:xfrm>
          <a:prstGeom prst="roundRect">
            <a:avLst>
              <a:gd name="adj" fmla="val 50000"/>
            </a:avLst>
          </a:prstGeom>
          <a:solidFill>
            <a:srgbClr val="E2EFED"/>
          </a:solidFill>
          <a:ln/>
        </p:spPr>
        <p:txBody>
          <a:bodyPr wrap="none" lIns="0" tIns="0" rIns="0" bIns="0" rtlCol="0" anchor="ctr">
            <a:normAutofit/>
          </a:bodyPr>
          <a:lstStyle/>
          <a:p>
            <a:pPr algn="ctr" indent="0" marL="0">
              <a:lnSpc>
                <a:spcPts val="1680"/>
              </a:lnSpc>
              <a:buNone/>
            </a:pPr>
            <a:r>
              <a:rPr lang="en-US" sz="1200" dirty="0">
                <a:solidFill>
                  <a:srgbClr val="0F1E2E"/>
                </a:solidFill>
                <a:latin typeface="IBM Plex Sans" pitchFamily="34" charset="0"/>
                <a:ea typeface="IBM Plex Sans" pitchFamily="34" charset="-122"/>
                <a:cs typeface="IBM Plex Sans" pitchFamily="34" charset="-120"/>
              </a:rPr>
              <a:t>DMZ web server</a:t>
            </a:r>
            <a:endParaRPr lang="en-US" sz="1200" dirty="0"/>
          </a:p>
        </p:txBody>
      </p:sp>
      <p:sp>
        <p:nvSpPr>
          <p:cNvPr id="11" name="Text 9"/>
          <p:cNvSpPr/>
          <p:nvPr/>
        </p:nvSpPr>
        <p:spPr>
          <a:xfrm>
            <a:off x="7267198" y="2200039"/>
            <a:ext cx="2083562" cy="314835"/>
          </a:xfrm>
          <a:prstGeom prst="roundRect">
            <a:avLst>
              <a:gd name="adj" fmla="val 50000"/>
            </a:avLst>
          </a:prstGeom>
          <a:solidFill>
            <a:srgbClr val="E2EFED"/>
          </a:solidFill>
          <a:ln/>
        </p:spPr>
        <p:txBody>
          <a:bodyPr wrap="none" lIns="0" tIns="0" rIns="0" bIns="0" rtlCol="0" anchor="ctr">
            <a:normAutofit/>
          </a:bodyPr>
          <a:lstStyle/>
          <a:p>
            <a:pPr algn="ctr" indent="0" marL="0">
              <a:lnSpc>
                <a:spcPts val="1680"/>
              </a:lnSpc>
              <a:buNone/>
            </a:pPr>
            <a:r>
              <a:rPr lang="en-US" sz="1200" dirty="0">
                <a:solidFill>
                  <a:srgbClr val="0F1E2E"/>
                </a:solidFill>
                <a:latin typeface="IBM Plex Sans" pitchFamily="34" charset="0"/>
                <a:ea typeface="IBM Plex Sans" pitchFamily="34" charset="-122"/>
                <a:cs typeface="IBM Plex Sans" pitchFamily="34" charset="-120"/>
              </a:rPr>
              <a:t>Admin, staff and guest PCs</a:t>
            </a:r>
            <a:endParaRPr lang="en-US" sz="1200" dirty="0"/>
          </a:p>
        </p:txBody>
      </p:sp>
      <p:pic>
        <p:nvPicPr>
          <p:cNvPr id="12" name="Image 0" descr="connector">    </p:cNvPr>
          <p:cNvPicPr>
            <a:picLocks noChangeAspect="1"/>
          </p:cNvPicPr>
          <p:nvPr/>
        </p:nvPicPr>
        <p:blipFill>
          <a:blip r:embed="rId1"/>
          <a:srcRect l="0" r="0" t="-7" b="-7"/>
          <a:stretch/>
        </p:blipFill>
        <p:spPr>
          <a:xfrm>
            <a:off x="2005952" y="2800015"/>
            <a:ext cx="126961" cy="507915"/>
          </a:xfrm>
          <a:prstGeom prst="rect">
            <a:avLst/>
          </a:prstGeom>
        </p:spPr>
      </p:pic>
      <p:sp>
        <p:nvSpPr>
          <p:cNvPr id="13" name="Text 10"/>
          <p:cNvSpPr/>
          <p:nvPr/>
        </p:nvSpPr>
        <p:spPr>
          <a:xfrm>
            <a:off x="2209098" y="2947274"/>
            <a:ext cx="2992308" cy="23879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6E"/>
                </a:solidFill>
                <a:latin typeface="IBM Plex Sans" pitchFamily="34" charset="0"/>
                <a:ea typeface="IBM Plex Sans" pitchFamily="34" charset="-122"/>
                <a:cs typeface="IBM Plex Sans" pitchFamily="34" charset="-120"/>
              </a:rPr>
              <a:t>Mirror port: a copy of all user traffic</a:t>
            </a:r>
            <a:endParaRPr lang="en-US" sz="1200" dirty="0"/>
          </a:p>
        </p:txBody>
      </p:sp>
      <p:pic>
        <p:nvPicPr>
          <p:cNvPr id="14" name="Image 1" descr="connector">    </p:cNvPr>
          <p:cNvPicPr>
            <a:picLocks noChangeAspect="1"/>
          </p:cNvPicPr>
          <p:nvPr/>
        </p:nvPicPr>
        <p:blipFill>
          <a:blip r:embed="rId2"/>
          <a:srcRect l="0" r="0" t="-7" b="-7"/>
          <a:stretch/>
        </p:blipFill>
        <p:spPr>
          <a:xfrm>
            <a:off x="7139953" y="2800015"/>
            <a:ext cx="126961" cy="507915"/>
          </a:xfrm>
          <a:prstGeom prst="rect">
            <a:avLst/>
          </a:prstGeom>
        </p:spPr>
      </p:pic>
      <p:sp>
        <p:nvSpPr>
          <p:cNvPr id="15" name="Text 11"/>
          <p:cNvSpPr/>
          <p:nvPr/>
        </p:nvSpPr>
        <p:spPr>
          <a:xfrm>
            <a:off x="7343098" y="2947274"/>
            <a:ext cx="3350546" cy="23879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521A"/>
                </a:solidFill>
                <a:latin typeface="IBM Plex Sans" pitchFamily="34" charset="0"/>
                <a:ea typeface="IBM Plex Sans" pitchFamily="34" charset="-122"/>
                <a:cs typeface="IBM Plex Sans" pitchFamily="34" charset="-120"/>
              </a:rPr>
              <a:t>Actions: SSH to switches, RADIUS rules</a:t>
            </a:r>
            <a:endParaRPr lang="en-US" sz="1200" dirty="0"/>
          </a:p>
        </p:txBody>
      </p:sp>
      <p:sp>
        <p:nvSpPr>
          <p:cNvPr id="16" name="Shape 12"/>
          <p:cNvSpPr/>
          <p:nvPr/>
        </p:nvSpPr>
        <p:spPr>
          <a:xfrm>
            <a:off x="815895" y="3412651"/>
            <a:ext cx="10560183" cy="2021509"/>
          </a:xfrm>
          <a:prstGeom prst="roundRect">
            <a:avLst>
              <a:gd name="adj" fmla="val 4869"/>
            </a:avLst>
          </a:prstGeom>
          <a:solidFill>
            <a:srgbClr val="FCFDFB"/>
          </a:solidFill>
          <a:ln w="6350">
            <a:solidFill>
              <a:srgbClr val="C9D3CF"/>
            </a:solidFill>
            <a:prstDash val="solid"/>
          </a:ln>
        </p:spPr>
      </p:sp>
      <p:sp>
        <p:nvSpPr>
          <p:cNvPr id="17" name="Text 13"/>
          <p:cNvSpPr/>
          <p:nvPr/>
        </p:nvSpPr>
        <p:spPr>
          <a:xfrm>
            <a:off x="1021674" y="3593068"/>
            <a:ext cx="10453084" cy="23870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E2E"/>
                </a:solidFill>
                <a:latin typeface="Space Grotesk" pitchFamily="34" charset="0"/>
                <a:ea typeface="Space Grotesk" pitchFamily="34" charset="-122"/>
                <a:cs typeface="Space Grotesk" pitchFamily="34" charset="-120"/>
              </a:rPr>
              <a:t>Detection and response · Python on the SIEM host</a:t>
            </a:r>
            <a:endParaRPr lang="en-US" sz="1400" dirty="0"/>
          </a:p>
        </p:txBody>
      </p:sp>
      <p:sp>
        <p:nvSpPr>
          <p:cNvPr id="18" name="Shape 14"/>
          <p:cNvSpPr/>
          <p:nvPr/>
        </p:nvSpPr>
        <p:spPr>
          <a:xfrm>
            <a:off x="1021674" y="4131348"/>
            <a:ext cx="1395110" cy="898856"/>
          </a:xfrm>
          <a:prstGeom prst="roundRect">
            <a:avLst>
              <a:gd name="adj" fmla="val 8477"/>
            </a:avLst>
          </a:prstGeom>
          <a:solidFill>
            <a:srgbClr val="E2EFED"/>
          </a:solidFill>
          <a:ln/>
        </p:spPr>
      </p:sp>
      <p:sp>
        <p:nvSpPr>
          <p:cNvPr id="19" name="Text 15"/>
          <p:cNvSpPr/>
          <p:nvPr/>
        </p:nvSpPr>
        <p:spPr>
          <a:xfrm>
            <a:off x="1123207" y="4232880"/>
            <a:ext cx="1242843"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Collector</a:t>
            </a:r>
            <a:endParaRPr lang="en-US" sz="1400" dirty="0"/>
          </a:p>
        </p:txBody>
      </p:sp>
      <p:sp>
        <p:nvSpPr>
          <p:cNvPr id="20" name="Text 16"/>
          <p:cNvSpPr/>
          <p:nvPr/>
        </p:nvSpPr>
        <p:spPr>
          <a:xfrm>
            <a:off x="1123207" y="4532502"/>
            <a:ext cx="1242843"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868"/>
                </a:solidFill>
                <a:latin typeface="IBM Plex Sans" pitchFamily="34" charset="0"/>
                <a:ea typeface="IBM Plex Sans" pitchFamily="34" charset="-122"/>
                <a:cs typeface="IBM Plex Sans" pitchFamily="34" charset="-120"/>
              </a:rPr>
              <a:t>Raw socket on the mirror</a:t>
            </a:r>
            <a:endParaRPr lang="en-US" sz="1200" dirty="0"/>
          </a:p>
        </p:txBody>
      </p:sp>
      <p:pic>
        <p:nvPicPr>
          <p:cNvPr id="21" name="Image 2" descr="connector">    </p:cNvPr>
          <p:cNvPicPr>
            <a:picLocks noChangeAspect="1"/>
          </p:cNvPicPr>
          <p:nvPr/>
        </p:nvPicPr>
        <p:blipFill>
          <a:blip r:embed="rId3"/>
          <a:srcRect l="-23" r="-23" t="0" b="0"/>
          <a:stretch/>
        </p:blipFill>
        <p:spPr>
          <a:xfrm>
            <a:off x="2492956" y="4530052"/>
            <a:ext cx="203157" cy="101533"/>
          </a:xfrm>
          <a:prstGeom prst="rect">
            <a:avLst/>
          </a:prstGeom>
        </p:spPr>
      </p:pic>
      <p:sp>
        <p:nvSpPr>
          <p:cNvPr id="22" name="Shape 17"/>
          <p:cNvSpPr/>
          <p:nvPr/>
        </p:nvSpPr>
        <p:spPr>
          <a:xfrm>
            <a:off x="2772286" y="4131348"/>
            <a:ext cx="1395200" cy="898856"/>
          </a:xfrm>
          <a:prstGeom prst="roundRect">
            <a:avLst>
              <a:gd name="adj" fmla="val 8477"/>
            </a:avLst>
          </a:prstGeom>
          <a:solidFill>
            <a:srgbClr val="E2EFED"/>
          </a:solidFill>
          <a:ln/>
        </p:spPr>
      </p:sp>
      <p:sp>
        <p:nvSpPr>
          <p:cNvPr id="23" name="Text 18"/>
          <p:cNvSpPr/>
          <p:nvPr/>
        </p:nvSpPr>
        <p:spPr>
          <a:xfrm>
            <a:off x="2873820" y="4232880"/>
            <a:ext cx="1242934"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Features</a:t>
            </a:r>
            <a:endParaRPr lang="en-US" sz="1400" dirty="0"/>
          </a:p>
        </p:txBody>
      </p:sp>
      <p:sp>
        <p:nvSpPr>
          <p:cNvPr id="24" name="Text 19"/>
          <p:cNvSpPr/>
          <p:nvPr/>
        </p:nvSpPr>
        <p:spPr>
          <a:xfrm>
            <a:off x="2873820" y="4532502"/>
            <a:ext cx="1242934"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868"/>
                </a:solidFill>
                <a:latin typeface="IBM Plex Sans" pitchFamily="34" charset="0"/>
                <a:ea typeface="IBM Plex Sans" pitchFamily="34" charset="-122"/>
                <a:cs typeface="IBM Plex Sans" pitchFamily="34" charset="-120"/>
              </a:rPr>
              <a:t>8 numbers per PC every 10 s</a:t>
            </a:r>
            <a:endParaRPr lang="en-US" sz="1200" dirty="0"/>
          </a:p>
        </p:txBody>
      </p:sp>
      <p:pic>
        <p:nvPicPr>
          <p:cNvPr id="25" name="Image 3" descr="connector">    </p:cNvPr>
          <p:cNvPicPr>
            <a:picLocks noChangeAspect="1"/>
          </p:cNvPicPr>
          <p:nvPr/>
        </p:nvPicPr>
        <p:blipFill>
          <a:blip r:embed="rId4"/>
          <a:srcRect l="-23" r="-23" t="0" b="0"/>
          <a:stretch/>
        </p:blipFill>
        <p:spPr>
          <a:xfrm>
            <a:off x="4243659" y="4530052"/>
            <a:ext cx="203157" cy="101533"/>
          </a:xfrm>
          <a:prstGeom prst="rect">
            <a:avLst/>
          </a:prstGeom>
        </p:spPr>
      </p:pic>
      <p:sp>
        <p:nvSpPr>
          <p:cNvPr id="26" name="Shape 20"/>
          <p:cNvSpPr/>
          <p:nvPr/>
        </p:nvSpPr>
        <p:spPr>
          <a:xfrm>
            <a:off x="4522989" y="4006900"/>
            <a:ext cx="1395200" cy="1147753"/>
          </a:xfrm>
          <a:prstGeom prst="roundRect">
            <a:avLst>
              <a:gd name="adj" fmla="val 6639"/>
            </a:avLst>
          </a:prstGeom>
          <a:solidFill>
            <a:srgbClr val="E2EFED"/>
          </a:solidFill>
          <a:ln/>
        </p:spPr>
      </p:sp>
      <p:sp>
        <p:nvSpPr>
          <p:cNvPr id="27" name="Text 21"/>
          <p:cNvSpPr/>
          <p:nvPr/>
        </p:nvSpPr>
        <p:spPr>
          <a:xfrm>
            <a:off x="4624523" y="4108434"/>
            <a:ext cx="1242934" cy="5231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Isolation Forest</a:t>
            </a:r>
            <a:endParaRPr lang="en-US" sz="1400" dirty="0"/>
          </a:p>
        </p:txBody>
      </p:sp>
      <p:sp>
        <p:nvSpPr>
          <p:cNvPr id="28" name="Text 22"/>
          <p:cNvSpPr/>
          <p:nvPr/>
        </p:nvSpPr>
        <p:spPr>
          <a:xfrm>
            <a:off x="4624523" y="4656947"/>
            <a:ext cx="1242934"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868"/>
                </a:solidFill>
                <a:latin typeface="IBM Plex Sans" pitchFamily="34" charset="0"/>
                <a:ea typeface="IBM Plex Sans" pitchFamily="34" charset="-122"/>
                <a:cs typeface="IBM Plex Sans" pitchFamily="34" charset="-120"/>
              </a:rPr>
              <a:t>Score, plus a brute-force rule</a:t>
            </a:r>
            <a:endParaRPr lang="en-US" sz="1200" dirty="0"/>
          </a:p>
        </p:txBody>
      </p:sp>
      <p:pic>
        <p:nvPicPr>
          <p:cNvPr id="29" name="Image 4" descr="connector">    </p:cNvPr>
          <p:cNvPicPr>
            <a:picLocks noChangeAspect="1"/>
          </p:cNvPicPr>
          <p:nvPr/>
        </p:nvPicPr>
        <p:blipFill>
          <a:blip r:embed="rId5"/>
          <a:srcRect l="-23" r="-23" t="0" b="0"/>
          <a:stretch/>
        </p:blipFill>
        <p:spPr>
          <a:xfrm>
            <a:off x="5994362" y="4530052"/>
            <a:ext cx="203157" cy="101533"/>
          </a:xfrm>
          <a:prstGeom prst="rect">
            <a:avLst/>
          </a:prstGeom>
        </p:spPr>
      </p:pic>
      <p:sp>
        <p:nvSpPr>
          <p:cNvPr id="30" name="Shape 23"/>
          <p:cNvSpPr/>
          <p:nvPr/>
        </p:nvSpPr>
        <p:spPr>
          <a:xfrm>
            <a:off x="6273692" y="4131348"/>
            <a:ext cx="1395200" cy="898856"/>
          </a:xfrm>
          <a:prstGeom prst="roundRect">
            <a:avLst>
              <a:gd name="adj" fmla="val 8477"/>
            </a:avLst>
          </a:prstGeom>
          <a:solidFill>
            <a:srgbClr val="E2EFED"/>
          </a:solidFill>
          <a:ln/>
        </p:spPr>
      </p:sp>
      <p:sp>
        <p:nvSpPr>
          <p:cNvPr id="31" name="Text 24"/>
          <p:cNvSpPr/>
          <p:nvPr/>
        </p:nvSpPr>
        <p:spPr>
          <a:xfrm>
            <a:off x="6375226" y="4232880"/>
            <a:ext cx="1242934"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Classifier</a:t>
            </a:r>
            <a:endParaRPr lang="en-US" sz="1400" dirty="0"/>
          </a:p>
        </p:txBody>
      </p:sp>
      <p:sp>
        <p:nvSpPr>
          <p:cNvPr id="32" name="Text 25"/>
          <p:cNvSpPr/>
          <p:nvPr/>
        </p:nvSpPr>
        <p:spPr>
          <a:xfrm>
            <a:off x="6375226" y="4532502"/>
            <a:ext cx="1242934"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868"/>
                </a:solidFill>
                <a:latin typeface="IBM Plex Sans" pitchFamily="34" charset="0"/>
                <a:ea typeface="IBM Plex Sans" pitchFamily="34" charset="-122"/>
                <a:cs typeface="IBM Plex Sans" pitchFamily="34" charset="-120"/>
              </a:rPr>
              <a:t>Names the attack type</a:t>
            </a:r>
            <a:endParaRPr lang="en-US" sz="1200" dirty="0"/>
          </a:p>
        </p:txBody>
      </p:sp>
      <p:pic>
        <p:nvPicPr>
          <p:cNvPr id="33" name="Image 5" descr="connector">    </p:cNvPr>
          <p:cNvPicPr>
            <a:picLocks noChangeAspect="1"/>
          </p:cNvPicPr>
          <p:nvPr/>
        </p:nvPicPr>
        <p:blipFill>
          <a:blip r:embed="rId6"/>
          <a:srcRect l="-23" r="-23" t="0" b="0"/>
          <a:stretch/>
        </p:blipFill>
        <p:spPr>
          <a:xfrm>
            <a:off x="7745065" y="4530052"/>
            <a:ext cx="203157" cy="101533"/>
          </a:xfrm>
          <a:prstGeom prst="rect">
            <a:avLst/>
          </a:prstGeom>
        </p:spPr>
      </p:pic>
      <p:sp>
        <p:nvSpPr>
          <p:cNvPr id="34" name="Shape 26"/>
          <p:cNvSpPr/>
          <p:nvPr/>
        </p:nvSpPr>
        <p:spPr>
          <a:xfrm>
            <a:off x="8024395" y="3907901"/>
            <a:ext cx="1395200" cy="1345838"/>
          </a:xfrm>
          <a:prstGeom prst="roundRect">
            <a:avLst>
              <a:gd name="adj" fmla="val 5662"/>
            </a:avLst>
          </a:prstGeom>
          <a:solidFill>
            <a:srgbClr val="FBEFE6"/>
          </a:solidFill>
          <a:ln/>
        </p:spPr>
      </p:sp>
      <p:sp>
        <p:nvSpPr>
          <p:cNvPr id="35" name="Text 27"/>
          <p:cNvSpPr/>
          <p:nvPr/>
        </p:nvSpPr>
        <p:spPr>
          <a:xfrm>
            <a:off x="8125929" y="4009436"/>
            <a:ext cx="1242934" cy="5231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Response engine</a:t>
            </a:r>
            <a:endParaRPr lang="en-US" sz="1400" dirty="0"/>
          </a:p>
        </p:txBody>
      </p:sp>
      <p:sp>
        <p:nvSpPr>
          <p:cNvPr id="36" name="Text 28"/>
          <p:cNvSpPr/>
          <p:nvPr/>
        </p:nvSpPr>
        <p:spPr>
          <a:xfrm>
            <a:off x="8125929" y="4557951"/>
            <a:ext cx="1242934" cy="61965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868"/>
                </a:solidFill>
                <a:latin typeface="IBM Plex Sans" pitchFamily="34" charset="0"/>
                <a:ea typeface="IBM Plex Sans" pitchFamily="34" charset="-122"/>
                <a:cs typeface="IBM Plex Sans" pitchFamily="34" charset="-120"/>
              </a:rPr>
              <a:t>Block, quarantine, disable</a:t>
            </a:r>
            <a:endParaRPr lang="en-US" sz="1200" dirty="0"/>
          </a:p>
        </p:txBody>
      </p:sp>
      <p:pic>
        <p:nvPicPr>
          <p:cNvPr id="37" name="Image 6" descr="connector">    </p:cNvPr>
          <p:cNvPicPr>
            <a:picLocks noChangeAspect="1"/>
          </p:cNvPicPr>
          <p:nvPr/>
        </p:nvPicPr>
        <p:blipFill>
          <a:blip r:embed="rId7"/>
          <a:srcRect l="-23" r="-23" t="0" b="0"/>
          <a:stretch/>
        </p:blipFill>
        <p:spPr>
          <a:xfrm>
            <a:off x="9495768" y="4530052"/>
            <a:ext cx="203157" cy="101533"/>
          </a:xfrm>
          <a:prstGeom prst="rect">
            <a:avLst/>
          </a:prstGeom>
        </p:spPr>
      </p:pic>
      <p:sp>
        <p:nvSpPr>
          <p:cNvPr id="38" name="Shape 29"/>
          <p:cNvSpPr/>
          <p:nvPr/>
        </p:nvSpPr>
        <p:spPr>
          <a:xfrm>
            <a:off x="9775099" y="4131348"/>
            <a:ext cx="1395200" cy="898856"/>
          </a:xfrm>
          <a:prstGeom prst="roundRect">
            <a:avLst>
              <a:gd name="adj" fmla="val 8477"/>
            </a:avLst>
          </a:prstGeom>
          <a:solidFill>
            <a:srgbClr val="E2EFED"/>
          </a:solidFill>
          <a:ln/>
        </p:spPr>
      </p:sp>
      <p:sp>
        <p:nvSpPr>
          <p:cNvPr id="39" name="Text 30"/>
          <p:cNvSpPr/>
          <p:nvPr/>
        </p:nvSpPr>
        <p:spPr>
          <a:xfrm>
            <a:off x="9876632" y="4232880"/>
            <a:ext cx="1242934" cy="27429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1E2E"/>
                </a:solidFill>
                <a:latin typeface="IBM Plex Sans" pitchFamily="34" charset="0"/>
                <a:ea typeface="IBM Plex Sans" pitchFamily="34" charset="-122"/>
                <a:cs typeface="IBM Plex Sans" pitchFamily="34" charset="-120"/>
              </a:rPr>
              <a:t>Zabbix</a:t>
            </a:r>
            <a:endParaRPr lang="en-US" sz="1400" dirty="0"/>
          </a:p>
        </p:txBody>
      </p:sp>
      <p:sp>
        <p:nvSpPr>
          <p:cNvPr id="40" name="Text 31"/>
          <p:cNvSpPr/>
          <p:nvPr/>
        </p:nvSpPr>
        <p:spPr>
          <a:xfrm>
            <a:off x="9876632" y="4532502"/>
            <a:ext cx="1242934" cy="42157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868"/>
                </a:solidFill>
                <a:latin typeface="IBM Plex Sans" pitchFamily="34" charset="0"/>
                <a:ea typeface="IBM Plex Sans" pitchFamily="34" charset="-122"/>
                <a:cs typeface="IBM Plex Sans" pitchFamily="34" charset="-120"/>
              </a:rPr>
              <a:t>Dashboard and email</a:t>
            </a:r>
            <a:endParaRPr lang="en-US" sz="1200" dirty="0"/>
          </a:p>
        </p:txBody>
      </p:sp>
      <p:sp>
        <p:nvSpPr>
          <p:cNvPr id="41" name="Text 32"/>
          <p:cNvSpPr/>
          <p:nvPr/>
        </p:nvSpPr>
        <p:spPr>
          <a:xfrm>
            <a:off x="812720" y="6238277"/>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42" name="Text 33"/>
          <p:cNvSpPr/>
          <p:nvPr/>
        </p:nvSpPr>
        <p:spPr>
          <a:xfrm>
            <a:off x="10893668" y="6238277"/>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8 / 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EVALUATION</a:t>
            </a:r>
            <a:endParaRPr lang="en-US" sz="1200" dirty="0"/>
          </a:p>
        </p:txBody>
      </p:sp>
      <p:sp>
        <p:nvSpPr>
          <p:cNvPr id="3" name="Text 1"/>
          <p:cNvSpPr/>
          <p:nvPr>
            <p:ph type="title"/>
          </p:nvPr>
        </p:nvSpPr>
        <p:spPr>
          <a:xfrm>
            <a:off x="812720" y="1102283"/>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How I prove that it works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13" y="1764020"/>
          <a:ext cx="5689400" cy="2484080"/>
        </p:xfrm>
        <a:graphic>
          <a:graphicData uri="http://schemas.openxmlformats.org/drawingml/2006/table">
            <a:tbl>
              <a:tblPr/>
              <a:tblGrid>
                <a:gridCol w="1706820"/>
                <a:gridCol w="3982580"/>
              </a:tblGrid>
              <a:tr h="358129">
                <a:tc>
                  <a:txBody>
                    <a:bodyPr/>
                    <a:lstStyle/>
                    <a:p>
                      <a:pP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c>
                  <a:txBody>
                    <a:bodyPr/>
                    <a:lstStyle/>
                    <a:p>
                      <a:pP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What it shows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FBD"/>
                      </a:solidFill>
                      <a:prstDash val="solid"/>
                      <a:round/>
                      <a:headEnd type="none" w="med" len="med"/>
                      <a:tailEnd type="none" w="med" len="med"/>
                    </a:lnL>
                    <a:lnR w="12700" cap="flat" cmpd="sng" algn="ctr">
                      <a:solidFill>
                        <a:srgbClr val="B5BFBD"/>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B5BFBD"/>
                      </a:solidFill>
                      <a:prstDash val="solid"/>
                      <a:round/>
                      <a:headEnd type="none" w="med" len="med"/>
                      <a:tailEnd type="none" w="med" len="med"/>
                    </a:lnB>
                    <a:solidFill>
                      <a:srgbClr val="E2EFED"/>
                    </a:solidFill>
                  </a:tcPr>
                </a:tc>
              </a:tr>
              <a:tr h="589274">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Policy checks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Each role reaches only what it should; run after every rebuild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B5BFBD"/>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589274">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802.1X logins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Right password: right VLAN. Wrong password: port stays closed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r h="589274">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Detector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594 normal and 100 attack windows; 5-fold cross-validation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3C4C2"/>
                      </a:solidFill>
                      <a:prstDash val="solid"/>
                      <a:round/>
                      <a:headEnd type="none" w="med" len="med"/>
                      <a:tailEnd type="none" w="med" len="med"/>
                    </a:lnR>
                    <a:lnT w="12700" cap="flat" cmpd="sng" algn="ctr">
                      <a:solidFill>
                        <a:srgbClr val="C9CAC8"/>
                      </a:solidFill>
                      <a:prstDash val="solid"/>
                      <a:round/>
                      <a:headEnd type="none" w="med" len="med"/>
                      <a:tailEnd type="none" w="med" len="med"/>
                    </a:lnT>
                    <a:lnB w="12700" cap="flat" cmpd="sng" algn="ctr">
                      <a:solidFill>
                        <a:srgbClr val="C3C4C2"/>
                      </a:solidFill>
                      <a:prstDash val="solid"/>
                      <a:round/>
                      <a:headEnd type="none" w="med" len="med"/>
                      <a:tailEnd type="none" w="med" len="med"/>
                    </a:lnB>
                  </a:tcPr>
                </a:tc>
              </a:tr>
              <a:tr h="358129">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End to end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2"/>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c>
                  <a:txBody>
                    <a:bodyPr/>
                    <a:lstStyle/>
                    <a:p>
                      <a:pP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5 live attacks; time from window end to the action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CAC8"/>
                      </a:solidFill>
                      <a:prstDash val="solid"/>
                      <a:round/>
                      <a:headEnd type="none" w="med" len="med"/>
                      <a:tailEnd type="none" w="med" len="med"/>
                    </a:lnL>
                    <a:lnR w="12700" cap="flat" cmpd="sng" algn="ctr">
                      <a:solidFill>
                        <a:srgbClr val="C9CAC8"/>
                      </a:solidFill>
                      <a:prstDash val="solid"/>
                      <a:round/>
                      <a:headEnd type="none" w="med" len="med"/>
                      <a:tailEnd type="none" w="med" len="med"/>
                    </a:lnR>
                    <a:lnT w="12700" cap="flat" cmpd="sng" algn="ctr">
                      <a:solidFill>
                        <a:srgbClr val="C3C4C2"/>
                      </a:solidFill>
                      <a:prstDash val="solid"/>
                      <a:round/>
                      <a:headEnd type="none" w="med" len="med"/>
                      <a:tailEnd type="none" w="med" len="med"/>
                    </a:lnT>
                    <a:lnB w="12700" cap="flat" cmpd="sng" algn="ctr">
                      <a:solidFill>
                        <a:srgbClr val="C9CAC8"/>
                      </a:solidFill>
                      <a:prstDash val="solid"/>
                      <a:round/>
                      <a:headEnd type="none" w="med" len="med"/>
                      <a:tailEnd type="none" w="med" len="med"/>
                    </a:lnB>
                    <a:solidFill>
                      <a:srgbClr val="FCFDFB"/>
                    </a:solidFill>
                  </a:tcPr>
                </a:tc>
              </a:tr>
            </a:tbl>
          </a:graphicData>
        </a:graphic>
      </p:graphicFrame>
      <p:sp>
        <p:nvSpPr>
          <p:cNvPr id="5" name="Text 2"/>
          <p:cNvSpPr/>
          <p:nvPr/>
        </p:nvSpPr>
        <p:spPr>
          <a:xfrm>
            <a:off x="812720" y="4349632"/>
            <a:ext cx="5872023"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Measured by accuracy, detection rate, false-alarm rate, F1-score and response time. Labels are used only to score the results.</a:t>
            </a:r>
            <a:endParaRPr lang="en-US" sz="1200" dirty="0"/>
          </a:p>
        </p:txBody>
      </p:sp>
      <p:sp>
        <p:nvSpPr>
          <p:cNvPr id="6" name="Shape 3"/>
          <p:cNvSpPr/>
          <p:nvPr/>
        </p:nvSpPr>
        <p:spPr>
          <a:xfrm>
            <a:off x="6821670" y="1755601"/>
            <a:ext cx="2210537" cy="1442108"/>
          </a:xfrm>
          <a:prstGeom prst="roundRect">
            <a:avLst>
              <a:gd name="adj" fmla="val 6825"/>
            </a:avLst>
          </a:prstGeom>
          <a:solidFill>
            <a:srgbClr val="FCFDFB"/>
          </a:solidFill>
          <a:ln w="6350">
            <a:solidFill>
              <a:srgbClr val="D5DDD9"/>
            </a:solidFill>
            <a:prstDash val="solid"/>
          </a:ln>
        </p:spPr>
      </p:sp>
      <p:sp>
        <p:nvSpPr>
          <p:cNvPr id="7" name="Text 4"/>
          <p:cNvSpPr/>
          <p:nvPr/>
        </p:nvSpPr>
        <p:spPr>
          <a:xfrm>
            <a:off x="6976636" y="1910569"/>
            <a:ext cx="1957621" cy="52826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6E6E"/>
                </a:solidFill>
                <a:latin typeface="Space Grotesk" pitchFamily="34" charset="0"/>
                <a:ea typeface="Space Grotesk" pitchFamily="34" charset="-122"/>
                <a:cs typeface="Space Grotesk" pitchFamily="34" charset="-120"/>
              </a:rPr>
              <a:t>99%</a:t>
            </a:r>
            <a:endParaRPr lang="en-US" sz="3600" dirty="0"/>
          </a:p>
        </p:txBody>
      </p:sp>
      <p:sp>
        <p:nvSpPr>
          <p:cNvPr id="8" name="Text 5"/>
          <p:cNvSpPr/>
          <p:nvPr/>
        </p:nvSpPr>
        <p:spPr>
          <a:xfrm>
            <a:off x="6976636" y="2438797"/>
            <a:ext cx="1957621"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accuracy over all test windows</a:t>
            </a:r>
            <a:endParaRPr lang="en-US" sz="1200" dirty="0"/>
          </a:p>
        </p:txBody>
      </p:sp>
      <p:sp>
        <p:nvSpPr>
          <p:cNvPr id="9" name="Shape 6"/>
          <p:cNvSpPr/>
          <p:nvPr/>
        </p:nvSpPr>
        <p:spPr>
          <a:xfrm>
            <a:off x="9165541" y="1755601"/>
            <a:ext cx="2210537" cy="1442108"/>
          </a:xfrm>
          <a:prstGeom prst="roundRect">
            <a:avLst>
              <a:gd name="adj" fmla="val 6825"/>
            </a:avLst>
          </a:prstGeom>
          <a:solidFill>
            <a:srgbClr val="FCFDFB"/>
          </a:solidFill>
          <a:ln w="6350">
            <a:solidFill>
              <a:srgbClr val="D5DDD9"/>
            </a:solidFill>
            <a:prstDash val="solid"/>
          </a:ln>
        </p:spPr>
      </p:sp>
      <p:sp>
        <p:nvSpPr>
          <p:cNvPr id="10" name="Text 7"/>
          <p:cNvSpPr/>
          <p:nvPr/>
        </p:nvSpPr>
        <p:spPr>
          <a:xfrm>
            <a:off x="9320508" y="1910569"/>
            <a:ext cx="1957621" cy="52826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6E6E"/>
                </a:solidFill>
                <a:latin typeface="Space Grotesk" pitchFamily="34" charset="0"/>
                <a:ea typeface="Space Grotesk" pitchFamily="34" charset="-122"/>
                <a:cs typeface="Space Grotesk" pitchFamily="34" charset="-120"/>
              </a:rPr>
              <a:t>100%</a:t>
            </a:r>
            <a:endParaRPr lang="en-US" sz="3600" dirty="0"/>
          </a:p>
        </p:txBody>
      </p:sp>
      <p:sp>
        <p:nvSpPr>
          <p:cNvPr id="11" name="Text 8"/>
          <p:cNvSpPr/>
          <p:nvPr/>
        </p:nvSpPr>
        <p:spPr>
          <a:xfrm>
            <a:off x="9320508" y="2438797"/>
            <a:ext cx="1957621"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of 100 attack windows detected</a:t>
            </a:r>
            <a:endParaRPr lang="en-US" sz="1200" dirty="0"/>
          </a:p>
        </p:txBody>
      </p:sp>
      <p:sp>
        <p:nvSpPr>
          <p:cNvPr id="12" name="Shape 9"/>
          <p:cNvSpPr/>
          <p:nvPr/>
        </p:nvSpPr>
        <p:spPr>
          <a:xfrm>
            <a:off x="6821670" y="3331040"/>
            <a:ext cx="2210537" cy="1442199"/>
          </a:xfrm>
          <a:prstGeom prst="roundRect">
            <a:avLst>
              <a:gd name="adj" fmla="val 6825"/>
            </a:avLst>
          </a:prstGeom>
          <a:solidFill>
            <a:srgbClr val="FCFDFB"/>
          </a:solidFill>
          <a:ln w="6350">
            <a:solidFill>
              <a:srgbClr val="D5DDD9"/>
            </a:solidFill>
            <a:prstDash val="solid"/>
          </a:ln>
        </p:spPr>
      </p:sp>
      <p:sp>
        <p:nvSpPr>
          <p:cNvPr id="13" name="Text 10"/>
          <p:cNvSpPr/>
          <p:nvPr/>
        </p:nvSpPr>
        <p:spPr>
          <a:xfrm>
            <a:off x="6976636" y="3486007"/>
            <a:ext cx="1957621" cy="52826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6E6E"/>
                </a:solidFill>
                <a:latin typeface="Space Grotesk" pitchFamily="34" charset="0"/>
                <a:ea typeface="Space Grotesk" pitchFamily="34" charset="-122"/>
                <a:cs typeface="Space Grotesk" pitchFamily="34" charset="-120"/>
              </a:rPr>
              <a:t>1.1%</a:t>
            </a:r>
            <a:endParaRPr lang="en-US" sz="3600" dirty="0"/>
          </a:p>
        </p:txBody>
      </p:sp>
      <p:sp>
        <p:nvSpPr>
          <p:cNvPr id="14" name="Text 11"/>
          <p:cNvSpPr/>
          <p:nvPr/>
        </p:nvSpPr>
        <p:spPr>
          <a:xfrm>
            <a:off x="6976636" y="4014236"/>
            <a:ext cx="1957621" cy="45218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false alarms, which only alert</a:t>
            </a:r>
            <a:endParaRPr lang="en-US" sz="1200" dirty="0"/>
          </a:p>
        </p:txBody>
      </p:sp>
      <p:sp>
        <p:nvSpPr>
          <p:cNvPr id="15" name="Shape 12"/>
          <p:cNvSpPr/>
          <p:nvPr/>
        </p:nvSpPr>
        <p:spPr>
          <a:xfrm>
            <a:off x="9165541" y="3331040"/>
            <a:ext cx="2210537" cy="1442199"/>
          </a:xfrm>
          <a:prstGeom prst="roundRect">
            <a:avLst>
              <a:gd name="adj" fmla="val 6825"/>
            </a:avLst>
          </a:prstGeom>
          <a:solidFill>
            <a:srgbClr val="FBEFE6"/>
          </a:solidFill>
          <a:ln w="6350">
            <a:solidFill>
              <a:srgbClr val="E8C9B2"/>
            </a:solidFill>
            <a:prstDash val="solid"/>
          </a:ln>
        </p:spPr>
      </p:sp>
      <p:sp>
        <p:nvSpPr>
          <p:cNvPr id="16" name="Text 13"/>
          <p:cNvSpPr/>
          <p:nvPr/>
        </p:nvSpPr>
        <p:spPr>
          <a:xfrm>
            <a:off x="9320508" y="3486007"/>
            <a:ext cx="1957621" cy="528266"/>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9521A"/>
                </a:solidFill>
                <a:latin typeface="Space Grotesk" pitchFamily="34" charset="0"/>
                <a:ea typeface="Space Grotesk" pitchFamily="34" charset="-122"/>
                <a:cs typeface="Space Grotesk" pitchFamily="34" charset="-120"/>
              </a:rPr>
              <a:t>&lt;2 s</a:t>
            </a:r>
            <a:endParaRPr lang="en-US" sz="3600" dirty="0"/>
          </a:p>
        </p:txBody>
      </p:sp>
      <p:sp>
        <p:nvSpPr>
          <p:cNvPr id="17" name="Text 14"/>
          <p:cNvSpPr/>
          <p:nvPr/>
        </p:nvSpPr>
        <p:spPr>
          <a:xfrm>
            <a:off x="9320508" y="4014236"/>
            <a:ext cx="1957621"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868"/>
                </a:solidFill>
                <a:latin typeface="IBM Plex Sans" pitchFamily="34" charset="0"/>
                <a:ea typeface="IBM Plex Sans" pitchFamily="34" charset="-122"/>
                <a:cs typeface="IBM Plex Sans" pitchFamily="34" charset="-120"/>
              </a:rPr>
              <a:t>from detection to action</a:t>
            </a:r>
            <a:endParaRPr lang="en-US" sz="1200" dirty="0"/>
          </a:p>
        </p:txBody>
      </p:sp>
      <p:sp>
        <p:nvSpPr>
          <p:cNvPr id="18" name="Text 15"/>
          <p:cNvSpPr/>
          <p:nvPr/>
        </p:nvSpPr>
        <p:spPr>
          <a:xfrm>
            <a:off x="812720" y="6238280"/>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19" name="Text 16"/>
          <p:cNvSpPr/>
          <p:nvPr/>
        </p:nvSpPr>
        <p:spPr>
          <a:xfrm>
            <a:off x="10893668" y="6238280"/>
            <a:ext cx="485404"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9 / 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3"/>
        </a:solidFill>
      </p:bgPr>
    </p:bg>
    <p:spTree>
      <p:nvGrpSpPr>
        <p:cNvPr id="1" name=""/>
        <p:cNvGrpSpPr/>
        <p:nvPr/>
      </p:nvGrpSpPr>
      <p:grpSpPr>
        <a:xfrm>
          <a:off x="0" y="0"/>
          <a:ext cx="0" cy="0"/>
          <a:chOff x="0" y="0"/>
          <a:chExt cx="0" cy="0"/>
        </a:xfrm>
      </p:grpSpPr>
      <p:sp>
        <p:nvSpPr>
          <p:cNvPr id="2" name="Text 0"/>
          <p:cNvSpPr/>
          <p:nvPr/>
        </p:nvSpPr>
        <p:spPr>
          <a:xfrm>
            <a:off x="812720" y="812719"/>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IBM Plex Sans" pitchFamily="34" charset="0"/>
                <a:ea typeface="IBM Plex Sans" pitchFamily="34" charset="-122"/>
                <a:cs typeface="IBM Plex Sans" pitchFamily="34" charset="-120"/>
              </a:rPr>
              <a:t>EVALUATION</a:t>
            </a:r>
            <a:endParaRPr lang="en-US" sz="1200" dirty="0"/>
          </a:p>
        </p:txBody>
      </p:sp>
      <p:sp>
        <p:nvSpPr>
          <p:cNvPr id="3" name="Text 1"/>
          <p:cNvSpPr/>
          <p:nvPr>
            <p:ph type="title"/>
          </p:nvPr>
        </p:nvSpPr>
        <p:spPr>
          <a:xfrm>
            <a:off x="812720" y="1102283"/>
            <a:ext cx="10883529"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E2E"/>
                </a:solidFill>
                <a:latin typeface="Space Grotesk" pitchFamily="34" charset="0"/>
                <a:ea typeface="Space Grotesk" pitchFamily="34" charset="-122"/>
                <a:cs typeface="Space Grotesk" pitchFamily="34" charset="-120"/>
              </a:rPr>
              <a:t>Limitations of the implementation</a:t>
            </a:r>
            <a:endParaRPr lang="en-US" sz="3200" dirty="0"/>
          </a:p>
        </p:txBody>
      </p:sp>
      <p:sp>
        <p:nvSpPr>
          <p:cNvPr id="4" name="Shape 2"/>
          <p:cNvSpPr/>
          <p:nvPr/>
        </p:nvSpPr>
        <p:spPr>
          <a:xfrm>
            <a:off x="815895" y="1755595"/>
            <a:ext cx="5200744" cy="1183610"/>
          </a:xfrm>
          <a:prstGeom prst="roundRect">
            <a:avLst>
              <a:gd name="adj" fmla="val 6170"/>
            </a:avLst>
          </a:prstGeom>
          <a:solidFill>
            <a:srgbClr val="FCFDFB"/>
          </a:solidFill>
          <a:ln w="6350">
            <a:solidFill>
              <a:srgbClr val="D5DDD9"/>
            </a:solidFill>
            <a:prstDash val="solid"/>
          </a:ln>
        </p:spPr>
      </p:sp>
      <p:sp>
        <p:nvSpPr>
          <p:cNvPr id="5" name="Text 3"/>
          <p:cNvSpPr/>
          <p:nvPr/>
        </p:nvSpPr>
        <p:spPr>
          <a:xfrm>
            <a:off x="996313" y="1936012"/>
            <a:ext cx="498510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Simulated traffic</a:t>
            </a:r>
            <a:endParaRPr lang="en-US" sz="1800" dirty="0"/>
          </a:p>
        </p:txBody>
      </p:sp>
      <p:sp>
        <p:nvSpPr>
          <p:cNvPr id="6" name="Text 4"/>
          <p:cNvSpPr/>
          <p:nvPr/>
        </p:nvSpPr>
        <p:spPr>
          <a:xfrm>
            <a:off x="996313" y="2260997"/>
            <a:ext cx="4985105"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Scripted users are more regular than real ones, so a real network would see more false alarms.</a:t>
            </a:r>
            <a:endParaRPr lang="en-US" sz="1400" dirty="0"/>
          </a:p>
        </p:txBody>
      </p:sp>
      <p:sp>
        <p:nvSpPr>
          <p:cNvPr id="7" name="Shape 5"/>
          <p:cNvSpPr/>
          <p:nvPr/>
        </p:nvSpPr>
        <p:spPr>
          <a:xfrm>
            <a:off x="6175334" y="1755595"/>
            <a:ext cx="5200744" cy="1183610"/>
          </a:xfrm>
          <a:prstGeom prst="roundRect">
            <a:avLst>
              <a:gd name="adj" fmla="val 6170"/>
            </a:avLst>
          </a:prstGeom>
          <a:solidFill>
            <a:srgbClr val="FCFDFB"/>
          </a:solidFill>
          <a:ln w="6350">
            <a:solidFill>
              <a:srgbClr val="D5DDD9"/>
            </a:solidFill>
            <a:prstDash val="solid"/>
          </a:ln>
        </p:spPr>
      </p:sp>
      <p:sp>
        <p:nvSpPr>
          <p:cNvPr id="8" name="Text 6"/>
          <p:cNvSpPr/>
          <p:nvPr/>
        </p:nvSpPr>
        <p:spPr>
          <a:xfrm>
            <a:off x="6355752" y="1936012"/>
            <a:ext cx="498510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Simulated night-time</a:t>
            </a:r>
            <a:endParaRPr lang="en-US" sz="1800" dirty="0"/>
          </a:p>
        </p:txBody>
      </p:sp>
      <p:sp>
        <p:nvSpPr>
          <p:cNvPr id="9" name="Text 7"/>
          <p:cNvSpPr/>
          <p:nvPr/>
        </p:nvSpPr>
        <p:spPr>
          <a:xfrm>
            <a:off x="6355752" y="2260997"/>
            <a:ext cx="5017150"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Off-hours activity is marked by a flag, not observed at night.</a:t>
            </a:r>
            <a:endParaRPr lang="en-US" sz="1400" dirty="0"/>
          </a:p>
        </p:txBody>
      </p:sp>
      <p:sp>
        <p:nvSpPr>
          <p:cNvPr id="10" name="Shape 8"/>
          <p:cNvSpPr/>
          <p:nvPr/>
        </p:nvSpPr>
        <p:spPr>
          <a:xfrm>
            <a:off x="815895" y="3097901"/>
            <a:ext cx="5200744" cy="1183610"/>
          </a:xfrm>
          <a:prstGeom prst="roundRect">
            <a:avLst>
              <a:gd name="adj" fmla="val 6170"/>
            </a:avLst>
          </a:prstGeom>
          <a:solidFill>
            <a:srgbClr val="FCFDFB"/>
          </a:solidFill>
          <a:ln w="6350">
            <a:solidFill>
              <a:srgbClr val="D5DDD9"/>
            </a:solidFill>
            <a:prstDash val="solid"/>
          </a:ln>
        </p:spPr>
      </p:sp>
      <p:sp>
        <p:nvSpPr>
          <p:cNvPr id="11" name="Text 9"/>
          <p:cNvSpPr/>
          <p:nvPr/>
        </p:nvSpPr>
        <p:spPr>
          <a:xfrm>
            <a:off x="996313" y="3278318"/>
            <a:ext cx="498510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Small lab</a:t>
            </a:r>
            <a:endParaRPr lang="en-US" sz="1800" dirty="0"/>
          </a:p>
        </p:txBody>
      </p:sp>
      <p:sp>
        <p:nvSpPr>
          <p:cNvPr id="12" name="Text 10"/>
          <p:cNvSpPr/>
          <p:nvPr/>
        </p:nvSpPr>
        <p:spPr>
          <a:xfrm>
            <a:off x="996313" y="3603303"/>
            <a:ext cx="4985105"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One access switch and three users, all on one laptop with 16 GB of RAM.</a:t>
            </a:r>
            <a:endParaRPr lang="en-US" sz="1400" dirty="0"/>
          </a:p>
        </p:txBody>
      </p:sp>
      <p:sp>
        <p:nvSpPr>
          <p:cNvPr id="13" name="Shape 11"/>
          <p:cNvSpPr/>
          <p:nvPr/>
        </p:nvSpPr>
        <p:spPr>
          <a:xfrm>
            <a:off x="6175334" y="3097901"/>
            <a:ext cx="5200744" cy="1183610"/>
          </a:xfrm>
          <a:prstGeom prst="roundRect">
            <a:avLst>
              <a:gd name="adj" fmla="val 6170"/>
            </a:avLst>
          </a:prstGeom>
          <a:solidFill>
            <a:srgbClr val="FCFDFB"/>
          </a:solidFill>
          <a:ln w="6350">
            <a:solidFill>
              <a:srgbClr val="D5DDD9"/>
            </a:solidFill>
            <a:prstDash val="solid"/>
          </a:ln>
        </p:spPr>
      </p:sp>
      <p:sp>
        <p:nvSpPr>
          <p:cNvPr id="14" name="Text 12"/>
          <p:cNvSpPr/>
          <p:nvPr/>
        </p:nvSpPr>
        <p:spPr>
          <a:xfrm>
            <a:off x="6355752" y="3278318"/>
            <a:ext cx="4985105" cy="29965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1E2E"/>
                </a:solidFill>
                <a:latin typeface="Space Grotesk" pitchFamily="34" charset="0"/>
                <a:ea typeface="Space Grotesk" pitchFamily="34" charset="-122"/>
                <a:cs typeface="Space Grotesk" pitchFamily="34" charset="-120"/>
              </a:rPr>
              <a:t>Known attack types</a:t>
            </a:r>
            <a:endParaRPr lang="en-US" sz="1800" dirty="0"/>
          </a:p>
        </p:txBody>
      </p:sp>
      <p:sp>
        <p:nvSpPr>
          <p:cNvPr id="15" name="Text 13"/>
          <p:cNvSpPr/>
          <p:nvPr/>
        </p:nvSpPr>
        <p:spPr>
          <a:xfrm>
            <a:off x="6355752" y="3603303"/>
            <a:ext cx="4985105" cy="52319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868"/>
                </a:solidFill>
                <a:latin typeface="IBM Plex Sans" pitchFamily="34" charset="0"/>
                <a:ea typeface="IBM Plex Sans" pitchFamily="34" charset="-122"/>
                <a:cs typeface="IBM Plex Sans" pitchFamily="34" charset="-120"/>
              </a:rPr>
              <a:t>Only five attacks were tested; others, such as lateral movement over SSH, were not.</a:t>
            </a:r>
            <a:endParaRPr lang="en-US" sz="1400" dirty="0"/>
          </a:p>
        </p:txBody>
      </p:sp>
      <p:sp>
        <p:nvSpPr>
          <p:cNvPr id="16" name="Text 14"/>
          <p:cNvSpPr/>
          <p:nvPr/>
        </p:nvSpPr>
        <p:spPr>
          <a:xfrm>
            <a:off x="812720" y="4487844"/>
            <a:ext cx="10883529" cy="5231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868"/>
                </a:solidFill>
                <a:latin typeface="IBM Plex Sans" pitchFamily="34" charset="0"/>
                <a:ea typeface="IBM Plex Sans" pitchFamily="34" charset="-122"/>
                <a:cs typeface="IBM Plex Sans" pitchFamily="34" charset="-120"/>
              </a:rPr>
              <a:t>Next:</a:t>
            </a:r>
            <a:r>
              <a:rPr lang="en-US" sz="1400" dirty="0">
                <a:solidFill>
                  <a:srgbClr val="4A5868"/>
                </a:solidFill>
                <a:latin typeface="IBM Plex Sans" pitchFamily="34" charset="0"/>
                <a:ea typeface="IBM Plex Sans" pitchFamily="34" charset="-122"/>
                <a:cs typeface="IBM Plex Sans" pitchFamily="34" charset="-120"/>
              </a:rPr>
              <a:t> compare with autoencoders and One-Class SVM (Syzranova et al., 2026), and link alerts to a SOAR or ticketing platform (Kumar et al., 2025).</a:t>
            </a:r>
            <a:endParaRPr lang="en-US" sz="1400" dirty="0"/>
          </a:p>
        </p:txBody>
      </p:sp>
      <p:sp>
        <p:nvSpPr>
          <p:cNvPr id="17" name="Text 15"/>
          <p:cNvSpPr/>
          <p:nvPr/>
        </p:nvSpPr>
        <p:spPr>
          <a:xfrm>
            <a:off x="812720" y="6238273"/>
            <a:ext cx="5427805" cy="23879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Zero Trust network with automated threat detection · Esborn Kihiu</a:t>
            </a:r>
            <a:endParaRPr lang="en-US" sz="1200" dirty="0"/>
          </a:p>
        </p:txBody>
      </p:sp>
      <p:sp>
        <p:nvSpPr>
          <p:cNvPr id="18" name="Text 16"/>
          <p:cNvSpPr/>
          <p:nvPr/>
        </p:nvSpPr>
        <p:spPr>
          <a:xfrm>
            <a:off x="10784001" y="6238273"/>
            <a:ext cx="595071" cy="23879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878"/>
                </a:solidFill>
                <a:latin typeface="IBM Plex Sans" pitchFamily="34" charset="0"/>
                <a:ea typeface="IBM Plex Sans" pitchFamily="34" charset="-122"/>
                <a:cs typeface="IBM Plex Sans" pitchFamily="34" charset="-120"/>
              </a:rPr>
              <a:t>10 / 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E2E"/>
        </a:solidFill>
      </p:bgPr>
    </p:bg>
    <p:spTree>
      <p:nvGrpSpPr>
        <p:cNvPr id="1" name=""/>
        <p:cNvGrpSpPr/>
        <p:nvPr/>
      </p:nvGrpSpPr>
      <p:grpSpPr>
        <a:xfrm>
          <a:off x="0" y="0"/>
          <a:ext cx="0" cy="0"/>
          <a:chOff x="0" y="0"/>
          <a:chExt cx="0" cy="0"/>
        </a:xfrm>
      </p:grpSpPr>
      <p:sp>
        <p:nvSpPr>
          <p:cNvPr id="2" name="Text 0"/>
          <p:cNvSpPr/>
          <p:nvPr/>
        </p:nvSpPr>
        <p:spPr>
          <a:xfrm>
            <a:off x="812720" y="2189628"/>
            <a:ext cx="10883529" cy="23879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C4BE"/>
                </a:solidFill>
                <a:latin typeface="IBM Plex Sans" pitchFamily="34" charset="0"/>
                <a:ea typeface="IBM Plex Sans" pitchFamily="34" charset="-122"/>
                <a:cs typeface="IBM Plex Sans" pitchFamily="34" charset="-120"/>
              </a:rPr>
              <a:t>THANK YOU</a:t>
            </a:r>
            <a:endParaRPr lang="en-US" sz="1200" dirty="0"/>
          </a:p>
        </p:txBody>
      </p:sp>
      <p:sp>
        <p:nvSpPr>
          <p:cNvPr id="3" name="Text 1"/>
          <p:cNvSpPr/>
          <p:nvPr>
            <p:ph type="title"/>
          </p:nvPr>
        </p:nvSpPr>
        <p:spPr>
          <a:xfrm>
            <a:off x="812720" y="2606173"/>
            <a:ext cx="10883529" cy="863571"/>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6F3"/>
                </a:solidFill>
                <a:latin typeface="Space Grotesk" pitchFamily="34" charset="0"/>
                <a:ea typeface="Space Grotesk" pitchFamily="34" charset="-122"/>
                <a:cs typeface="Space Grotesk" pitchFamily="34" charset="-120"/>
              </a:rPr>
              <a:t>Questions?</a:t>
            </a:r>
            <a:endParaRPr lang="en-US" sz="6000" dirty="0"/>
          </a:p>
        </p:txBody>
      </p:sp>
      <p:sp>
        <p:nvSpPr>
          <p:cNvPr id="4" name="Text 2"/>
          <p:cNvSpPr/>
          <p:nvPr/>
        </p:nvSpPr>
        <p:spPr>
          <a:xfrm>
            <a:off x="812720" y="3647504"/>
            <a:ext cx="8502647" cy="59420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3D8"/>
                </a:solidFill>
                <a:latin typeface="IBM Plex Sans" pitchFamily="34" charset="0"/>
                <a:ea typeface="IBM Plex Sans" pitchFamily="34" charset="-122"/>
                <a:cs typeface="IBM Plex Sans" pitchFamily="34" charset="-120"/>
              </a:rPr>
              <a:t>A Zero Trust network that verifies every login, watches every device, and responds by itself in under two seconds.</a:t>
            </a:r>
            <a:endParaRPr lang="en-US" sz="1600" dirty="0"/>
          </a:p>
        </p:txBody>
      </p:sp>
      <p:sp>
        <p:nvSpPr>
          <p:cNvPr id="5" name="Text 3"/>
          <p:cNvSpPr/>
          <p:nvPr/>
        </p:nvSpPr>
        <p:spPr>
          <a:xfrm>
            <a:off x="812720" y="4419464"/>
            <a:ext cx="10883529" cy="27429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3D8"/>
                </a:solidFill>
                <a:latin typeface="IBM Plex Sans" pitchFamily="34" charset="0"/>
                <a:ea typeface="IBM Plex Sans" pitchFamily="34" charset="-122"/>
                <a:cs typeface="IBM Plex Sans" pitchFamily="34" charset="-120"/>
              </a:rPr>
              <a:t>Esborn Kihiu · Adm No. 168863 · Supervisor: Mr. James Gikera</a:t>
            </a:r>
            <a:endParaRPr lang="en-US" sz="1400" dirty="0"/>
          </a:p>
        </p:txBody>
      </p:sp>
    </p:spTree>
  </p:cSld>
  <p:clrMapOvr>
    <a:masterClrMapping/>
  </p:clrMapOvr>
</p:sld>
</file>

<file path=ppt/theme/theme1.xml><?xml version="1.0" encoding="utf-8"?>
<a:theme xmlns:a="http://schemas.openxmlformats.org/drawingml/2006/main" name="Zero Trust Network with Automated Threat Detection — Proposal Presentation">
  <a:themeElements>
    <a:clrScheme name="Zero Trust Network with Automated Threat Detection — Proposal Presentation">
      <a:dk1>
        <a:srgbClr val="0F1E2E"/>
      </a:dk1>
      <a:lt1>
        <a:srgbClr val="F4F6F3"/>
      </a:lt1>
      <a:dk2>
        <a:srgbClr val="48545F"/>
      </a:dk2>
      <a:lt2>
        <a:srgbClr val="DDE0DF"/>
      </a:lt2>
      <a:accent1>
        <a:srgbClr val="0B6E6E"/>
      </a:accent1>
      <a:accent2>
        <a:srgbClr val="A9521A"/>
      </a:accent2>
      <a:accent3>
        <a:srgbClr val="5FC4BE"/>
      </a:accent3>
      <a:accent4>
        <a:srgbClr val="4A5868"/>
      </a:accent4>
      <a:accent5>
        <a:srgbClr val="5A6878"/>
      </a:accent5>
      <a:accent6>
        <a:srgbClr val="BFD3D8"/>
      </a:accent6>
      <a:hlink>
        <a:srgbClr val="0563C1"/>
      </a:hlink>
      <a:folHlink>
        <a:srgbClr val="954F72"/>
      </a:folHlink>
    </a:clrScheme>
    <a:fontScheme name="Zero Trust Network with Automated Threat Detection — Proposal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Trust Network with Automated Threat Detection — Proposal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2026-10-28T11:05:15Z</dcterms:created>
  <dcterms:modified xsi:type="dcterms:W3CDTF">2026-10-28T11:05:15Z</dcterms:modified>
</cp:coreProperties>
</file>